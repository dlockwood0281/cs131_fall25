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8229600" cx="14630400"/>
  <p:notesSz cx="8229600" cy="14630400"/>
  <p:embeddedFontLst>
    <p:embeddedFont>
      <p:font typeface="Instrument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strument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nstrumentSa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InstrumentSans-italic.fntdata"/><Relationship Id="rId6" Type="http://schemas.openxmlformats.org/officeDocument/2006/relationships/slide" Target="slides/slide2.xml"/><Relationship Id="rId18" Type="http://schemas.openxmlformats.org/officeDocument/2006/relationships/font" Target="fonts/Instrument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e6c322a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e6c322ae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ae6c322ae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pic>
        <p:nvPicPr>
          <p:cNvPr descr="preencoded.png" id="14" name="Google Shape;14;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5" name="Google Shape;15;p3"/>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pic>
        <p:nvPicPr>
          <p:cNvPr descr="preencoded.png" id="17" name="Google Shape;17;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8" name="Google Shape;18;p4"/>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pic>
        <p:nvPicPr>
          <p:cNvPr descr="preencoded.png" id="20" name="Google Shape;20;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1" name="Google Shape;21;p5"/>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pic>
        <p:nvPicPr>
          <p:cNvPr descr="preencoded.png" id="23" name="Google Shape;23;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6"/>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pic>
        <p:nvPicPr>
          <p:cNvPr descr="preencoded.png" id="26" name="Google Shape;26;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7" name="Google Shape;27;p7"/>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pic>
        <p:nvPicPr>
          <p:cNvPr descr="preencoded.png" id="29" name="Google Shape;29;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0" name="Google Shape;30;p8"/>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pic>
        <p:nvPicPr>
          <p:cNvPr descr="preencoded.png" id="32" name="Google Shape;32;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 name="Google Shape;33;p9"/>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pic>
        <p:nvPicPr>
          <p:cNvPr descr="preencoded.png" id="35" name="Google Shape;35;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0"/>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pic>
        <p:nvPicPr>
          <p:cNvPr descr="preencoded.png" id="38" name="Google Shape;38;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9" name="Google Shape;39;p11"/>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pic>
        <p:nvPicPr>
          <p:cNvPr descr="preencoded.png" id="41" name="Google Shape;41;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2" name="Google Shape;42;p12"/>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3" name="Shape 4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8.png"/><Relationship Id="rId7"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30.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preencoded.png" id="49" name="Google Shape;49;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0" name="Google Shape;50;p14"/>
          <p:cNvSpPr/>
          <p:nvPr/>
        </p:nvSpPr>
        <p:spPr>
          <a:xfrm>
            <a:off x="258115" y="2099407"/>
            <a:ext cx="7556400" cy="9924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BCCCE"/>
              </a:buClr>
              <a:buSzPts val="3100"/>
              <a:buFont typeface="Instrument Sans"/>
              <a:buNone/>
            </a:pPr>
            <a:r>
              <a:rPr lang="en-US" sz="3100">
                <a:solidFill>
                  <a:srgbClr val="CBCCCE"/>
                </a:solidFill>
                <a:latin typeface="Instrument Sans"/>
                <a:ea typeface="Instrument Sans"/>
                <a:cs typeface="Instrument Sans"/>
                <a:sym typeface="Instrument Sans"/>
              </a:rPr>
              <a:t>CS131 Fall 2025 Semester Project - Pierce</a:t>
            </a:r>
            <a:endParaRPr sz="3100">
              <a:solidFill>
                <a:srgbClr val="CBCCCE"/>
              </a:solidFill>
              <a:latin typeface="Instrument Sans"/>
              <a:ea typeface="Instrument Sans"/>
              <a:cs typeface="Instrument Sans"/>
              <a:sym typeface="Instrument Sans"/>
            </a:endParaRPr>
          </a:p>
          <a:p>
            <a:pPr indent="0" lvl="0" marL="0" marR="0" rtl="0" algn="l">
              <a:lnSpc>
                <a:spcPct val="125806"/>
              </a:lnSpc>
              <a:spcBef>
                <a:spcPts val="0"/>
              </a:spcBef>
              <a:spcAft>
                <a:spcPts val="0"/>
              </a:spcAft>
              <a:buClr>
                <a:srgbClr val="CBCCCE"/>
              </a:buClr>
              <a:buSzPts val="3100"/>
              <a:buFont typeface="Instrument Sans"/>
              <a:buNone/>
            </a:pPr>
            <a:r>
              <a:rPr b="0" i="0" lang="en-US" sz="3100" u="none" cap="none" strike="noStrike">
                <a:solidFill>
                  <a:srgbClr val="CBCCCE"/>
                </a:solidFill>
                <a:latin typeface="Instrument Sans"/>
                <a:ea typeface="Instrument Sans"/>
                <a:cs typeface="Instrument Sans"/>
                <a:sym typeface="Instrument Sans"/>
              </a:rPr>
              <a:t>CUDA: Compute Unified Device Architecture</a:t>
            </a:r>
            <a:endParaRPr b="0" i="0" sz="3100" u="none" cap="none" strike="noStrike"/>
          </a:p>
        </p:txBody>
      </p:sp>
      <p:sp>
        <p:nvSpPr>
          <p:cNvPr id="51" name="Google Shape;51;p14"/>
          <p:cNvSpPr/>
          <p:nvPr/>
        </p:nvSpPr>
        <p:spPr>
          <a:xfrm>
            <a:off x="294050" y="4373478"/>
            <a:ext cx="7556400" cy="1056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FD0D8"/>
              </a:buClr>
              <a:buSzPts val="1250"/>
              <a:buFont typeface="Instrument Sans"/>
              <a:buNone/>
            </a:pPr>
            <a:r>
              <a:rPr lang="en-US" sz="1550">
                <a:solidFill>
                  <a:srgbClr val="CFD0D8"/>
                </a:solidFill>
                <a:latin typeface="Instrument Sans"/>
                <a:ea typeface="Instrument Sans"/>
                <a:cs typeface="Instrument Sans"/>
                <a:sym typeface="Instrument Sans"/>
              </a:rPr>
              <a:t>By Harut Payaslyan</a:t>
            </a:r>
            <a:endParaRPr sz="1550">
              <a:solidFill>
                <a:srgbClr val="CFD0D8"/>
              </a:solidFill>
              <a:latin typeface="Instrument Sans"/>
              <a:ea typeface="Instrument Sans"/>
              <a:cs typeface="Instrument Sans"/>
              <a:sym typeface="Instrument Sans"/>
            </a:endParaRPr>
          </a:p>
          <a:p>
            <a:pPr indent="0" lvl="0" marL="0" marR="0" rtl="0" algn="l">
              <a:lnSpc>
                <a:spcPct val="160000"/>
              </a:lnSpc>
              <a:spcBef>
                <a:spcPts val="0"/>
              </a:spcBef>
              <a:spcAft>
                <a:spcPts val="0"/>
              </a:spcAft>
              <a:buClr>
                <a:srgbClr val="CFD0D8"/>
              </a:buClr>
              <a:buSzPts val="1250"/>
              <a:buFont typeface="Instrument Sans"/>
              <a:buNone/>
            </a:pPr>
            <a:r>
              <a:rPr lang="en-US" sz="1550">
                <a:solidFill>
                  <a:srgbClr val="CFD0D8"/>
                </a:solidFill>
                <a:latin typeface="Instrument Sans"/>
                <a:ea typeface="Instrument Sans"/>
                <a:cs typeface="Instrument Sans"/>
                <a:sym typeface="Instrument Sans"/>
              </a:rPr>
              <a:t>Professor Yuen Y.</a:t>
            </a:r>
            <a:endParaRPr sz="1550">
              <a:solidFill>
                <a:srgbClr val="CFD0D8"/>
              </a:solidFill>
              <a:latin typeface="Instrument Sans"/>
              <a:ea typeface="Instrument Sans"/>
              <a:cs typeface="Instrument Sans"/>
              <a:sym typeface="Instrument Sans"/>
            </a:endParaRPr>
          </a:p>
        </p:txBody>
      </p:sp>
      <p:pic>
        <p:nvPicPr>
          <p:cNvPr descr="preencoded.png" id="52" name="Google Shape;52;p14"/>
          <p:cNvPicPr preferRelativeResize="0"/>
          <p:nvPr/>
        </p:nvPicPr>
        <p:blipFill rotWithShape="1">
          <a:blip r:embed="rId4">
            <a:alphaModFix/>
          </a:blip>
          <a:srcRect b="-3090" l="0" r="0" t="3090"/>
          <a:stretch/>
        </p:blipFill>
        <p:spPr>
          <a:xfrm>
            <a:off x="8585065" y="1557697"/>
            <a:ext cx="5289470" cy="52894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p:nvPr/>
        </p:nvSpPr>
        <p:spPr>
          <a:xfrm>
            <a:off x="604718" y="475178"/>
            <a:ext cx="2159913" cy="269915"/>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BCCCE"/>
              </a:buClr>
              <a:buSzPts val="1700"/>
              <a:buFont typeface="Instrument Sans"/>
              <a:buNone/>
            </a:pPr>
            <a:r>
              <a:rPr b="0" i="0" lang="en-US" sz="1700" u="none" cap="none" strike="noStrike">
                <a:solidFill>
                  <a:srgbClr val="CBCCCE"/>
                </a:solidFill>
                <a:latin typeface="Instrument Sans"/>
                <a:ea typeface="Instrument Sans"/>
                <a:cs typeface="Instrument Sans"/>
                <a:sym typeface="Instrument Sans"/>
              </a:rPr>
              <a:t>Introduction</a:t>
            </a:r>
            <a:endParaRPr b="0" i="0" sz="1700" u="none" cap="none" strike="noStrike"/>
          </a:p>
        </p:txBody>
      </p:sp>
      <p:sp>
        <p:nvSpPr>
          <p:cNvPr id="59" name="Google Shape;59;p15"/>
          <p:cNvSpPr/>
          <p:nvPr/>
        </p:nvSpPr>
        <p:spPr>
          <a:xfrm>
            <a:off x="604718" y="814149"/>
            <a:ext cx="4319826" cy="5399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3400"/>
              <a:buFont typeface="Instrument Sans"/>
              <a:buNone/>
            </a:pPr>
            <a:r>
              <a:rPr b="0" i="0" lang="en-US" sz="3400" u="none" cap="none" strike="noStrike">
                <a:solidFill>
                  <a:srgbClr val="CBCCCE"/>
                </a:solidFill>
                <a:latin typeface="Instrument Sans"/>
                <a:ea typeface="Instrument Sans"/>
                <a:cs typeface="Instrument Sans"/>
                <a:sym typeface="Instrument Sans"/>
              </a:rPr>
              <a:t>What is CUDA?</a:t>
            </a:r>
            <a:endParaRPr b="0" i="0" sz="3400" u="none" cap="none" strike="noStrike"/>
          </a:p>
        </p:txBody>
      </p:sp>
      <p:sp>
        <p:nvSpPr>
          <p:cNvPr id="60" name="Google Shape;60;p15"/>
          <p:cNvSpPr/>
          <p:nvPr/>
        </p:nvSpPr>
        <p:spPr>
          <a:xfrm>
            <a:off x="604718" y="1768673"/>
            <a:ext cx="6499741" cy="829032"/>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FD0D8"/>
              </a:buClr>
              <a:buSzPts val="1350"/>
              <a:buFont typeface="Instrument Sans"/>
              <a:buNone/>
            </a:pPr>
            <a:r>
              <a:rPr b="0" i="0" lang="en-US" sz="1350" u="none" cap="none" strike="noStrike">
                <a:solidFill>
                  <a:srgbClr val="CFD0D8"/>
                </a:solidFill>
                <a:latin typeface="Instrument Sans"/>
                <a:ea typeface="Instrument Sans"/>
                <a:cs typeface="Instrument Sans"/>
                <a:sym typeface="Instrument Sans"/>
              </a:rPr>
              <a:t>CUDA is NVIDIA's parallel computing platform and programming model that enables developers to harness the massive parallel processing power of GPUs for general-purpose computing tasks beyond traditional graphics rendering.</a:t>
            </a:r>
            <a:endParaRPr b="0" i="0" sz="1350" u="none" cap="none" strike="noStrike"/>
          </a:p>
        </p:txBody>
      </p:sp>
      <p:sp>
        <p:nvSpPr>
          <p:cNvPr id="61" name="Google Shape;61;p15"/>
          <p:cNvSpPr/>
          <p:nvPr/>
        </p:nvSpPr>
        <p:spPr>
          <a:xfrm>
            <a:off x="604718" y="2753201"/>
            <a:ext cx="6499800" cy="8289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CFD0D8"/>
              </a:buClr>
              <a:buSzPts val="1350"/>
              <a:buFont typeface="Instrument Sans"/>
              <a:buNone/>
            </a:pPr>
            <a:r>
              <a:rPr b="0" i="0" lang="en-US" sz="1350" u="none" cap="none" strike="noStrike">
                <a:solidFill>
                  <a:srgbClr val="CFD0D8"/>
                </a:solidFill>
                <a:latin typeface="Instrument Sans"/>
                <a:ea typeface="Instrument Sans"/>
                <a:cs typeface="Instrument Sans"/>
                <a:sym typeface="Instrument Sans"/>
              </a:rPr>
              <a:t>Introduced in 2006, CUDA revolutionized high-performance computing by making GPU acceleration accessible through familiar programming languages like C, C++, and Python.</a:t>
            </a:r>
            <a:endParaRPr b="0" i="0" sz="1350" u="none" cap="none" strike="noStrike"/>
          </a:p>
        </p:txBody>
      </p:sp>
      <p:pic>
        <p:nvPicPr>
          <p:cNvPr descr="preencoded.png" id="62" name="Google Shape;62;p15"/>
          <p:cNvPicPr preferRelativeResize="0"/>
          <p:nvPr/>
        </p:nvPicPr>
        <p:blipFill rotWithShape="1">
          <a:blip r:embed="rId3">
            <a:alphaModFix/>
          </a:blip>
          <a:srcRect b="0" l="0" r="0" t="0"/>
          <a:stretch/>
        </p:blipFill>
        <p:spPr>
          <a:xfrm>
            <a:off x="7669811" y="745088"/>
            <a:ext cx="6499741" cy="68670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preencoded.png" id="68" name="Google Shape;68;p1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9" name="Google Shape;69;p16"/>
          <p:cNvSpPr/>
          <p:nvPr/>
        </p:nvSpPr>
        <p:spPr>
          <a:xfrm>
            <a:off x="6280190" y="881063"/>
            <a:ext cx="7556421" cy="1346835"/>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CBCCCE"/>
              </a:buClr>
              <a:buSzPts val="4200"/>
              <a:buFont typeface="Instrument Sans"/>
              <a:buNone/>
            </a:pPr>
            <a:r>
              <a:rPr b="0" i="0" lang="en-US" sz="4200" u="none" cap="none" strike="noStrike">
                <a:solidFill>
                  <a:srgbClr val="CBCCCE"/>
                </a:solidFill>
                <a:latin typeface="Instrument Sans"/>
                <a:ea typeface="Instrument Sans"/>
                <a:cs typeface="Instrument Sans"/>
                <a:sym typeface="Instrument Sans"/>
              </a:rPr>
              <a:t>The GPU Architecture Advantage</a:t>
            </a:r>
            <a:endParaRPr b="0" i="0" sz="4200" u="none" cap="none" strike="noStrike"/>
          </a:p>
        </p:txBody>
      </p:sp>
      <p:sp>
        <p:nvSpPr>
          <p:cNvPr id="70" name="Google Shape;70;p16"/>
          <p:cNvSpPr/>
          <p:nvPr/>
        </p:nvSpPr>
        <p:spPr>
          <a:xfrm>
            <a:off x="6280190" y="2551033"/>
            <a:ext cx="3670459" cy="2635806"/>
          </a:xfrm>
          <a:prstGeom prst="roundRect">
            <a:avLst>
              <a:gd fmla="val 3434"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6"/>
          <p:cNvSpPr/>
          <p:nvPr/>
        </p:nvSpPr>
        <p:spPr>
          <a:xfrm>
            <a:off x="6503194" y="2774037"/>
            <a:ext cx="2693551"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CFD0D8"/>
              </a:buClr>
              <a:buSzPts val="2100"/>
              <a:buFont typeface="Instrument Sans"/>
              <a:buNone/>
            </a:pPr>
            <a:r>
              <a:rPr b="0" i="0" lang="en-US" sz="2100" u="none" cap="none" strike="noStrike">
                <a:solidFill>
                  <a:srgbClr val="CFD0D8"/>
                </a:solidFill>
                <a:latin typeface="Instrument Sans"/>
                <a:ea typeface="Instrument Sans"/>
                <a:cs typeface="Instrument Sans"/>
                <a:sym typeface="Instrument Sans"/>
              </a:rPr>
              <a:t>Thousands of Cores</a:t>
            </a:r>
            <a:endParaRPr b="0" i="0" sz="2100" u="none" cap="none" strike="noStrike"/>
          </a:p>
        </p:txBody>
      </p:sp>
      <p:sp>
        <p:nvSpPr>
          <p:cNvPr id="72" name="Google Shape;72;p16"/>
          <p:cNvSpPr/>
          <p:nvPr/>
        </p:nvSpPr>
        <p:spPr>
          <a:xfrm>
            <a:off x="6503194" y="3239810"/>
            <a:ext cx="3224451" cy="172402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FD0D8"/>
              </a:buClr>
              <a:buSzPts val="1650"/>
              <a:buFont typeface="Instrument Sans"/>
              <a:buNone/>
            </a:pPr>
            <a:r>
              <a:rPr b="0" i="0" lang="en-US" sz="1650" u="none" cap="none" strike="noStrike">
                <a:solidFill>
                  <a:srgbClr val="CFD0D8"/>
                </a:solidFill>
                <a:latin typeface="Instrument Sans"/>
                <a:ea typeface="Instrument Sans"/>
                <a:cs typeface="Instrument Sans"/>
                <a:sym typeface="Instrument Sans"/>
              </a:rPr>
              <a:t>Modern GPUs contain thousands of smaller, efficient cores designed for parallel execution, compared to CPUs with fewer, more powerful cores.</a:t>
            </a:r>
            <a:endParaRPr b="0" i="0" sz="1650" u="none" cap="none" strike="noStrike"/>
          </a:p>
        </p:txBody>
      </p:sp>
      <p:sp>
        <p:nvSpPr>
          <p:cNvPr id="73" name="Google Shape;73;p16"/>
          <p:cNvSpPr/>
          <p:nvPr/>
        </p:nvSpPr>
        <p:spPr>
          <a:xfrm>
            <a:off x="10166033" y="2551033"/>
            <a:ext cx="3670578" cy="2635806"/>
          </a:xfrm>
          <a:prstGeom prst="roundRect">
            <a:avLst>
              <a:gd fmla="val 3434"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10389037" y="2774037"/>
            <a:ext cx="3139797"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CFD0D8"/>
              </a:buClr>
              <a:buSzPts val="2100"/>
              <a:buFont typeface="Instrument Sans"/>
              <a:buNone/>
            </a:pPr>
            <a:r>
              <a:rPr b="0" i="0" lang="en-US" sz="2100" u="none" cap="none" strike="noStrike">
                <a:solidFill>
                  <a:srgbClr val="CFD0D8"/>
                </a:solidFill>
                <a:latin typeface="Instrument Sans"/>
                <a:ea typeface="Instrument Sans"/>
                <a:cs typeface="Instrument Sans"/>
                <a:sym typeface="Instrument Sans"/>
              </a:rPr>
              <a:t>High Memory Bandwidth</a:t>
            </a:r>
            <a:endParaRPr b="0" i="0" sz="2100" u="none" cap="none" strike="noStrike"/>
          </a:p>
        </p:txBody>
      </p:sp>
      <p:sp>
        <p:nvSpPr>
          <p:cNvPr id="75" name="Google Shape;75;p16"/>
          <p:cNvSpPr/>
          <p:nvPr/>
        </p:nvSpPr>
        <p:spPr>
          <a:xfrm>
            <a:off x="10389037" y="3239810"/>
            <a:ext cx="3224570" cy="172402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FD0D8"/>
              </a:buClr>
              <a:buSzPts val="1650"/>
              <a:buFont typeface="Instrument Sans"/>
              <a:buNone/>
            </a:pPr>
            <a:r>
              <a:rPr b="0" i="0" lang="en-US" sz="1650" u="none" cap="none" strike="noStrike">
                <a:solidFill>
                  <a:srgbClr val="CFD0D8"/>
                </a:solidFill>
                <a:latin typeface="Instrument Sans"/>
                <a:ea typeface="Instrument Sans"/>
                <a:cs typeface="Instrument Sans"/>
                <a:sym typeface="Instrument Sans"/>
              </a:rPr>
              <a:t>GPUs feature high-bandwidth memory systems capable of transferring hundreds of gigabytes per second, essential for data-intensive applications.</a:t>
            </a:r>
            <a:endParaRPr b="0" i="0" sz="1650" u="none" cap="none" strike="noStrike"/>
          </a:p>
        </p:txBody>
      </p:sp>
      <p:sp>
        <p:nvSpPr>
          <p:cNvPr id="76" name="Google Shape;76;p16"/>
          <p:cNvSpPr/>
          <p:nvPr/>
        </p:nvSpPr>
        <p:spPr>
          <a:xfrm>
            <a:off x="6280190" y="5402223"/>
            <a:ext cx="7556421" cy="1946196"/>
          </a:xfrm>
          <a:prstGeom prst="roundRect">
            <a:avLst>
              <a:gd fmla="val 4650"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6503194" y="5625227"/>
            <a:ext cx="2693551"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CFD0D8"/>
              </a:buClr>
              <a:buSzPts val="2100"/>
              <a:buFont typeface="Instrument Sans"/>
              <a:buNone/>
            </a:pPr>
            <a:r>
              <a:rPr b="0" i="0" lang="en-US" sz="2100" u="none" cap="none" strike="noStrike">
                <a:solidFill>
                  <a:srgbClr val="CFD0D8"/>
                </a:solidFill>
                <a:latin typeface="Instrument Sans"/>
                <a:ea typeface="Instrument Sans"/>
                <a:cs typeface="Instrument Sans"/>
                <a:sym typeface="Instrument Sans"/>
              </a:rPr>
              <a:t>SIMT Architecture</a:t>
            </a:r>
            <a:endParaRPr b="0" i="0" sz="2100" u="none" cap="none" strike="noStrike"/>
          </a:p>
        </p:txBody>
      </p:sp>
      <p:sp>
        <p:nvSpPr>
          <p:cNvPr id="78" name="Google Shape;78;p16"/>
          <p:cNvSpPr/>
          <p:nvPr/>
        </p:nvSpPr>
        <p:spPr>
          <a:xfrm>
            <a:off x="6503194" y="6090999"/>
            <a:ext cx="7110412" cy="10344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CFD0D8"/>
              </a:buClr>
              <a:buSzPts val="1650"/>
              <a:buFont typeface="Instrument Sans"/>
              <a:buNone/>
            </a:pPr>
            <a:r>
              <a:rPr b="0" i="0" lang="en-US" sz="1650" u="none" cap="none" strike="noStrike">
                <a:solidFill>
                  <a:srgbClr val="CFD0D8"/>
                </a:solidFill>
                <a:latin typeface="Instrument Sans"/>
                <a:ea typeface="Instrument Sans"/>
                <a:cs typeface="Instrument Sans"/>
                <a:sym typeface="Instrument Sans"/>
              </a:rPr>
              <a:t>Single Instruction Multiple Thread execution allows thousands of threads to execute the same instruction on different data simultaneously.</a:t>
            </a:r>
            <a:endParaRPr b="0" i="0" sz="16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793790" y="1323142"/>
            <a:ext cx="725900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CUDA Programming Model</a:t>
            </a:r>
            <a:endParaRPr b="0" i="0" sz="4450" u="none" cap="none" strike="noStrike"/>
          </a:p>
        </p:txBody>
      </p:sp>
      <p:sp>
        <p:nvSpPr>
          <p:cNvPr id="85" name="Google Shape;85;p17"/>
          <p:cNvSpPr/>
          <p:nvPr/>
        </p:nvSpPr>
        <p:spPr>
          <a:xfrm>
            <a:off x="793790" y="2485549"/>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1</a:t>
            </a:r>
            <a:endParaRPr b="0" i="0" sz="1750" u="none" cap="none" strike="noStrike"/>
          </a:p>
        </p:txBody>
      </p:sp>
      <p:pic>
        <p:nvPicPr>
          <p:cNvPr descr="preencoded.png" id="86" name="Google Shape;86;p17"/>
          <p:cNvPicPr preferRelativeResize="0"/>
          <p:nvPr/>
        </p:nvPicPr>
        <p:blipFill rotWithShape="1">
          <a:blip r:embed="rId3">
            <a:alphaModFix/>
          </a:blip>
          <a:srcRect b="0" l="0" r="0" t="0"/>
          <a:stretch/>
        </p:blipFill>
        <p:spPr>
          <a:xfrm>
            <a:off x="793790" y="2840593"/>
            <a:ext cx="4196358" cy="30480"/>
          </a:xfrm>
          <a:prstGeom prst="rect">
            <a:avLst/>
          </a:prstGeom>
          <a:noFill/>
          <a:ln>
            <a:noFill/>
          </a:ln>
        </p:spPr>
      </p:pic>
      <p:sp>
        <p:nvSpPr>
          <p:cNvPr id="87" name="Google Shape;87;p17"/>
          <p:cNvSpPr/>
          <p:nvPr/>
        </p:nvSpPr>
        <p:spPr>
          <a:xfrm>
            <a:off x="793790" y="301490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Define the Kernel</a:t>
            </a:r>
            <a:endParaRPr b="0" i="0" sz="2200" u="none" cap="none" strike="noStrike"/>
          </a:p>
        </p:txBody>
      </p:sp>
      <p:sp>
        <p:nvSpPr>
          <p:cNvPr id="88" name="Google Shape;88;p17"/>
          <p:cNvSpPr/>
          <p:nvPr/>
        </p:nvSpPr>
        <p:spPr>
          <a:xfrm>
            <a:off x="793790" y="3505319"/>
            <a:ext cx="4196358"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Write parallel functions (kernels) that execute on the GPU, specifying the computation each thread performs.</a:t>
            </a:r>
            <a:endParaRPr b="0" i="0" sz="1750" u="none" cap="none" strike="noStrike"/>
          </a:p>
        </p:txBody>
      </p:sp>
      <p:sp>
        <p:nvSpPr>
          <p:cNvPr id="89" name="Google Shape;89;p17"/>
          <p:cNvSpPr/>
          <p:nvPr/>
        </p:nvSpPr>
        <p:spPr>
          <a:xfrm>
            <a:off x="5216962" y="2485549"/>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2</a:t>
            </a:r>
            <a:endParaRPr b="0" i="0" sz="1750" u="none" cap="none" strike="noStrike"/>
          </a:p>
        </p:txBody>
      </p:sp>
      <p:pic>
        <p:nvPicPr>
          <p:cNvPr descr="preencoded.png" id="90" name="Google Shape;90;p17"/>
          <p:cNvPicPr preferRelativeResize="0"/>
          <p:nvPr/>
        </p:nvPicPr>
        <p:blipFill rotWithShape="1">
          <a:blip r:embed="rId3">
            <a:alphaModFix/>
          </a:blip>
          <a:srcRect b="0" l="0" r="0" t="0"/>
          <a:stretch/>
        </p:blipFill>
        <p:spPr>
          <a:xfrm>
            <a:off x="5216962" y="2840593"/>
            <a:ext cx="4196358" cy="30480"/>
          </a:xfrm>
          <a:prstGeom prst="rect">
            <a:avLst/>
          </a:prstGeom>
          <a:noFill/>
          <a:ln>
            <a:noFill/>
          </a:ln>
        </p:spPr>
      </p:pic>
      <p:sp>
        <p:nvSpPr>
          <p:cNvPr id="91" name="Google Shape;91;p17"/>
          <p:cNvSpPr/>
          <p:nvPr/>
        </p:nvSpPr>
        <p:spPr>
          <a:xfrm>
            <a:off x="5216962" y="3014901"/>
            <a:ext cx="293322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Allocate GPU Memory</a:t>
            </a:r>
            <a:endParaRPr b="0" i="0" sz="2200" u="none" cap="none" strike="noStrike"/>
          </a:p>
        </p:txBody>
      </p:sp>
      <p:sp>
        <p:nvSpPr>
          <p:cNvPr id="92" name="Google Shape;92;p17"/>
          <p:cNvSpPr/>
          <p:nvPr/>
        </p:nvSpPr>
        <p:spPr>
          <a:xfrm>
            <a:off x="5216962" y="3505319"/>
            <a:ext cx="4196358"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Use cudaMalloc() to allocate device memory and prepare data structures for GPU processing.</a:t>
            </a:r>
            <a:endParaRPr b="0" i="0" sz="1750" u="none" cap="none" strike="noStrike"/>
          </a:p>
        </p:txBody>
      </p:sp>
      <p:sp>
        <p:nvSpPr>
          <p:cNvPr id="93" name="Google Shape;93;p17"/>
          <p:cNvSpPr/>
          <p:nvPr/>
        </p:nvSpPr>
        <p:spPr>
          <a:xfrm>
            <a:off x="9640133" y="2485549"/>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3</a:t>
            </a:r>
            <a:endParaRPr b="0" i="0" sz="1750" u="none" cap="none" strike="noStrike"/>
          </a:p>
        </p:txBody>
      </p:sp>
      <p:pic>
        <p:nvPicPr>
          <p:cNvPr descr="preencoded.png" id="94" name="Google Shape;94;p17"/>
          <p:cNvPicPr preferRelativeResize="0"/>
          <p:nvPr/>
        </p:nvPicPr>
        <p:blipFill rotWithShape="1">
          <a:blip r:embed="rId3">
            <a:alphaModFix/>
          </a:blip>
          <a:srcRect b="0" l="0" r="0" t="0"/>
          <a:stretch/>
        </p:blipFill>
        <p:spPr>
          <a:xfrm>
            <a:off x="9640133" y="2840593"/>
            <a:ext cx="4196358" cy="30480"/>
          </a:xfrm>
          <a:prstGeom prst="rect">
            <a:avLst/>
          </a:prstGeom>
          <a:noFill/>
          <a:ln>
            <a:noFill/>
          </a:ln>
        </p:spPr>
      </p:pic>
      <p:sp>
        <p:nvSpPr>
          <p:cNvPr id="95" name="Google Shape;95;p17"/>
          <p:cNvSpPr/>
          <p:nvPr/>
        </p:nvSpPr>
        <p:spPr>
          <a:xfrm>
            <a:off x="9640133" y="301490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Transfer Data</a:t>
            </a:r>
            <a:endParaRPr b="0" i="0" sz="2200" u="none" cap="none" strike="noStrike"/>
          </a:p>
        </p:txBody>
      </p:sp>
      <p:sp>
        <p:nvSpPr>
          <p:cNvPr id="96" name="Google Shape;96;p17"/>
          <p:cNvSpPr/>
          <p:nvPr/>
        </p:nvSpPr>
        <p:spPr>
          <a:xfrm>
            <a:off x="9640133" y="3505319"/>
            <a:ext cx="4196358"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Copy input data from host (CPU) memory to device (GPU) memory using cudaMemcpy().</a:t>
            </a:r>
            <a:endParaRPr b="0" i="0" sz="1750" u="none" cap="none" strike="noStrike"/>
          </a:p>
        </p:txBody>
      </p:sp>
      <p:sp>
        <p:nvSpPr>
          <p:cNvPr id="97" name="Google Shape;97;p17"/>
          <p:cNvSpPr/>
          <p:nvPr/>
        </p:nvSpPr>
        <p:spPr>
          <a:xfrm>
            <a:off x="793790" y="4990862"/>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4</a:t>
            </a:r>
            <a:endParaRPr b="0" i="0" sz="1750" u="none" cap="none" strike="noStrike"/>
          </a:p>
        </p:txBody>
      </p:sp>
      <p:pic>
        <p:nvPicPr>
          <p:cNvPr descr="preencoded.png" id="98" name="Google Shape;98;p17"/>
          <p:cNvPicPr preferRelativeResize="0"/>
          <p:nvPr/>
        </p:nvPicPr>
        <p:blipFill rotWithShape="1">
          <a:blip r:embed="rId4">
            <a:alphaModFix/>
          </a:blip>
          <a:srcRect b="0" l="0" r="0" t="0"/>
          <a:stretch/>
        </p:blipFill>
        <p:spPr>
          <a:xfrm>
            <a:off x="793790" y="5323165"/>
            <a:ext cx="6407944" cy="30480"/>
          </a:xfrm>
          <a:prstGeom prst="rect">
            <a:avLst/>
          </a:prstGeom>
          <a:noFill/>
          <a:ln>
            <a:noFill/>
          </a:ln>
        </p:spPr>
      </p:pic>
      <p:sp>
        <p:nvSpPr>
          <p:cNvPr id="99" name="Google Shape;99;p17"/>
          <p:cNvSpPr/>
          <p:nvPr/>
        </p:nvSpPr>
        <p:spPr>
          <a:xfrm>
            <a:off x="793790" y="552021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Launch Kernel</a:t>
            </a:r>
            <a:endParaRPr b="0" i="0" sz="2200" u="none" cap="none" strike="noStrike"/>
          </a:p>
        </p:txBody>
      </p:sp>
      <p:sp>
        <p:nvSpPr>
          <p:cNvPr id="100" name="Google Shape;100;p17"/>
          <p:cNvSpPr/>
          <p:nvPr/>
        </p:nvSpPr>
        <p:spPr>
          <a:xfrm>
            <a:off x="793790" y="6010632"/>
            <a:ext cx="640794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Execute the kernel with specified grid and block dimensions, distributing work across GPU threads.</a:t>
            </a:r>
            <a:endParaRPr b="0" i="0" sz="1750" u="none" cap="none" strike="noStrike"/>
          </a:p>
        </p:txBody>
      </p:sp>
      <p:sp>
        <p:nvSpPr>
          <p:cNvPr id="101" name="Google Shape;101;p17"/>
          <p:cNvSpPr/>
          <p:nvPr/>
        </p:nvSpPr>
        <p:spPr>
          <a:xfrm>
            <a:off x="7428548" y="4990862"/>
            <a:ext cx="226814" cy="28348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5</a:t>
            </a:r>
            <a:endParaRPr b="0" i="0" sz="1750" u="none" cap="none" strike="noStrike"/>
          </a:p>
        </p:txBody>
      </p:sp>
      <p:pic>
        <p:nvPicPr>
          <p:cNvPr descr="preencoded.png" id="102" name="Google Shape;102;p17"/>
          <p:cNvPicPr preferRelativeResize="0"/>
          <p:nvPr/>
        </p:nvPicPr>
        <p:blipFill rotWithShape="1">
          <a:blip r:embed="rId4">
            <a:alphaModFix/>
          </a:blip>
          <a:srcRect b="0" l="0" r="0" t="0"/>
          <a:stretch/>
        </p:blipFill>
        <p:spPr>
          <a:xfrm>
            <a:off x="7428548" y="5323165"/>
            <a:ext cx="6407944" cy="30480"/>
          </a:xfrm>
          <a:prstGeom prst="rect">
            <a:avLst/>
          </a:prstGeom>
          <a:noFill/>
          <a:ln>
            <a:noFill/>
          </a:ln>
        </p:spPr>
      </p:pic>
      <p:sp>
        <p:nvSpPr>
          <p:cNvPr id="103" name="Google Shape;103;p17"/>
          <p:cNvSpPr/>
          <p:nvPr/>
        </p:nvSpPr>
        <p:spPr>
          <a:xfrm>
            <a:off x="7428548" y="552021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Retrieve Results</a:t>
            </a:r>
            <a:endParaRPr b="0" i="0" sz="2200" u="none" cap="none" strike="noStrike"/>
          </a:p>
        </p:txBody>
      </p:sp>
      <p:sp>
        <p:nvSpPr>
          <p:cNvPr id="104" name="Google Shape;104;p17"/>
          <p:cNvSpPr/>
          <p:nvPr/>
        </p:nvSpPr>
        <p:spPr>
          <a:xfrm>
            <a:off x="7428548" y="6010632"/>
            <a:ext cx="640794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Copy computed results back to host memory and free GPU resources with cudaFree().</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p:nvPr/>
        </p:nvSpPr>
        <p:spPr>
          <a:xfrm>
            <a:off x="793790" y="1469827"/>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Thread Hierarchy</a:t>
            </a:r>
            <a:endParaRPr b="0" i="0" sz="4450" u="none" cap="none" strike="noStrike"/>
          </a:p>
        </p:txBody>
      </p:sp>
      <p:sp>
        <p:nvSpPr>
          <p:cNvPr id="111" name="Google Shape;111;p18"/>
          <p:cNvSpPr/>
          <p:nvPr/>
        </p:nvSpPr>
        <p:spPr>
          <a:xfrm>
            <a:off x="793790" y="2722840"/>
            <a:ext cx="760428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CUDA organizes threads into a hierarchical structure for efficient parallel execution:</a:t>
            </a:r>
            <a:endParaRPr b="0" i="0" sz="1750" u="none" cap="none" strike="noStrike"/>
          </a:p>
        </p:txBody>
      </p:sp>
      <p:sp>
        <p:nvSpPr>
          <p:cNvPr id="112" name="Google Shape;112;p18"/>
          <p:cNvSpPr/>
          <p:nvPr/>
        </p:nvSpPr>
        <p:spPr>
          <a:xfrm>
            <a:off x="793790" y="3652718"/>
            <a:ext cx="760428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Threads</a:t>
            </a:r>
            <a:r>
              <a:rPr b="0" i="0" lang="en-US" sz="1750" u="none" cap="none" strike="noStrike">
                <a:solidFill>
                  <a:srgbClr val="CFD0D8"/>
                </a:solidFill>
                <a:latin typeface="Instrument Sans"/>
                <a:ea typeface="Instrument Sans"/>
                <a:cs typeface="Instrument Sans"/>
                <a:sym typeface="Instrument Sans"/>
              </a:rPr>
              <a:t>: Individual execution units grouped into blocks</a:t>
            </a:r>
            <a:endParaRPr b="0" i="0" sz="1750" u="none" cap="none" strike="noStrike"/>
          </a:p>
        </p:txBody>
      </p:sp>
      <p:sp>
        <p:nvSpPr>
          <p:cNvPr id="113" name="Google Shape;113;p18"/>
          <p:cNvSpPr/>
          <p:nvPr/>
        </p:nvSpPr>
        <p:spPr>
          <a:xfrm>
            <a:off x="793790" y="4094917"/>
            <a:ext cx="7604284"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Blocks</a:t>
            </a:r>
            <a:r>
              <a:rPr b="0" i="0" lang="en-US" sz="1750" u="none" cap="none" strike="noStrike">
                <a:solidFill>
                  <a:srgbClr val="CFD0D8"/>
                </a:solidFill>
                <a:latin typeface="Instrument Sans"/>
                <a:ea typeface="Instrument Sans"/>
                <a:cs typeface="Instrument Sans"/>
                <a:sym typeface="Instrument Sans"/>
              </a:rPr>
              <a:t>: Collections of threads that share memory and can synchronize</a:t>
            </a:r>
            <a:endParaRPr b="0" i="0" sz="1750" u="none" cap="none" strike="noStrike"/>
          </a:p>
        </p:txBody>
      </p:sp>
      <p:sp>
        <p:nvSpPr>
          <p:cNvPr id="114" name="Google Shape;114;p18"/>
          <p:cNvSpPr/>
          <p:nvPr/>
        </p:nvSpPr>
        <p:spPr>
          <a:xfrm>
            <a:off x="793790" y="4900017"/>
            <a:ext cx="760428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Grids</a:t>
            </a:r>
            <a:r>
              <a:rPr b="0" i="0" lang="en-US" sz="1750" u="none" cap="none" strike="noStrike">
                <a:solidFill>
                  <a:srgbClr val="CFD0D8"/>
                </a:solidFill>
                <a:latin typeface="Instrument Sans"/>
                <a:ea typeface="Instrument Sans"/>
                <a:cs typeface="Instrument Sans"/>
                <a:sym typeface="Instrument Sans"/>
              </a:rPr>
              <a:t>: Arrays of blocks launched together in a single kernel call</a:t>
            </a:r>
            <a:endParaRPr b="0" i="0" sz="1750" u="none" cap="none" strike="noStrike"/>
          </a:p>
        </p:txBody>
      </p:sp>
      <p:sp>
        <p:nvSpPr>
          <p:cNvPr id="115" name="Google Shape;115;p18"/>
          <p:cNvSpPr/>
          <p:nvPr/>
        </p:nvSpPr>
        <p:spPr>
          <a:xfrm>
            <a:off x="793790" y="5466993"/>
            <a:ext cx="7604284"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This hierarchy maps naturally to GPU hardware, with blocks scheduled on streaming multiprocessors (SMs) and threads executing in groups of 32 called warps.</a:t>
            </a:r>
            <a:endParaRPr b="0" i="0" sz="1750" u="none" cap="none" strike="noStrike"/>
          </a:p>
        </p:txBody>
      </p:sp>
      <p:pic>
        <p:nvPicPr>
          <p:cNvPr descr="preencoded.png" id="116" name="Google Shape;116;p18"/>
          <p:cNvPicPr preferRelativeResize="0"/>
          <p:nvPr/>
        </p:nvPicPr>
        <p:blipFill rotWithShape="1">
          <a:blip r:embed="rId3">
            <a:alphaModFix/>
          </a:blip>
          <a:srcRect b="0" l="0" r="0" t="0"/>
          <a:stretch/>
        </p:blipFill>
        <p:spPr>
          <a:xfrm>
            <a:off x="8959096" y="2773918"/>
            <a:ext cx="4885015" cy="34872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p:nvPr/>
        </p:nvSpPr>
        <p:spPr>
          <a:xfrm>
            <a:off x="793790" y="1326475"/>
            <a:ext cx="727376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Memory Hierarchy in CUDA</a:t>
            </a:r>
            <a:endParaRPr b="0" i="0" sz="4450" u="none" cap="none" strike="noStrike"/>
          </a:p>
        </p:txBody>
      </p:sp>
      <p:sp>
        <p:nvSpPr>
          <p:cNvPr id="123" name="Google Shape;123;p19"/>
          <p:cNvSpPr/>
          <p:nvPr/>
        </p:nvSpPr>
        <p:spPr>
          <a:xfrm>
            <a:off x="793790" y="2488883"/>
            <a:ext cx="6407944" cy="2093714"/>
          </a:xfrm>
          <a:prstGeom prst="roundRect">
            <a:avLst>
              <a:gd fmla="val 6988" name="adj"/>
            </a:avLst>
          </a:prstGeom>
          <a:solidFill>
            <a:srgbClr val="2A2A2D">
              <a:alpha val="94901"/>
            </a:srgbClr>
          </a:solidFill>
          <a:ln cap="flat" cmpd="sng" w="3047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19"/>
          <p:cNvPicPr preferRelativeResize="0"/>
          <p:nvPr/>
        </p:nvPicPr>
        <p:blipFill rotWithShape="1">
          <a:blip r:embed="rId3">
            <a:alphaModFix/>
          </a:blip>
          <a:srcRect b="0" l="0" r="0" t="0"/>
          <a:stretch/>
        </p:blipFill>
        <p:spPr>
          <a:xfrm>
            <a:off x="763310" y="2488883"/>
            <a:ext cx="121920" cy="2093714"/>
          </a:xfrm>
          <a:prstGeom prst="rect">
            <a:avLst/>
          </a:prstGeom>
          <a:noFill/>
          <a:ln>
            <a:noFill/>
          </a:ln>
        </p:spPr>
      </p:pic>
      <p:sp>
        <p:nvSpPr>
          <p:cNvPr id="125" name="Google Shape;125;p19"/>
          <p:cNvSpPr/>
          <p:nvPr/>
        </p:nvSpPr>
        <p:spPr>
          <a:xfrm>
            <a:off x="1142524" y="274617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Global Memory</a:t>
            </a:r>
            <a:endParaRPr b="0" i="0" sz="2200" u="none" cap="none" strike="noStrike"/>
          </a:p>
        </p:txBody>
      </p:sp>
      <p:sp>
        <p:nvSpPr>
          <p:cNvPr id="126" name="Google Shape;126;p19"/>
          <p:cNvSpPr/>
          <p:nvPr/>
        </p:nvSpPr>
        <p:spPr>
          <a:xfrm>
            <a:off x="1142524" y="3236595"/>
            <a:ext cx="5801916"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Large capacity (GBs) but slowest access. Accessible by all threads across all blocks. Persists for the application lifetime.</a:t>
            </a:r>
            <a:endParaRPr b="0" i="0" sz="1750" u="none" cap="none" strike="noStrike"/>
          </a:p>
        </p:txBody>
      </p:sp>
      <p:sp>
        <p:nvSpPr>
          <p:cNvPr id="127" name="Google Shape;127;p19"/>
          <p:cNvSpPr/>
          <p:nvPr/>
        </p:nvSpPr>
        <p:spPr>
          <a:xfrm>
            <a:off x="7428548" y="2488883"/>
            <a:ext cx="6408063" cy="2093714"/>
          </a:xfrm>
          <a:prstGeom prst="roundRect">
            <a:avLst>
              <a:gd fmla="val 6988" name="adj"/>
            </a:avLst>
          </a:prstGeom>
          <a:solidFill>
            <a:srgbClr val="2A2A2D">
              <a:alpha val="94901"/>
            </a:srgbClr>
          </a:solidFill>
          <a:ln cap="flat" cmpd="sng" w="3047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19"/>
          <p:cNvPicPr preferRelativeResize="0"/>
          <p:nvPr/>
        </p:nvPicPr>
        <p:blipFill rotWithShape="1">
          <a:blip r:embed="rId3">
            <a:alphaModFix/>
          </a:blip>
          <a:srcRect b="0" l="0" r="0" t="0"/>
          <a:stretch/>
        </p:blipFill>
        <p:spPr>
          <a:xfrm>
            <a:off x="7398067" y="2488883"/>
            <a:ext cx="121920" cy="2093714"/>
          </a:xfrm>
          <a:prstGeom prst="rect">
            <a:avLst/>
          </a:prstGeom>
          <a:noFill/>
          <a:ln>
            <a:noFill/>
          </a:ln>
        </p:spPr>
      </p:pic>
      <p:sp>
        <p:nvSpPr>
          <p:cNvPr id="129" name="Google Shape;129;p19"/>
          <p:cNvSpPr/>
          <p:nvPr/>
        </p:nvSpPr>
        <p:spPr>
          <a:xfrm>
            <a:off x="7777282" y="274617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Shared Memory</a:t>
            </a:r>
            <a:endParaRPr b="0" i="0" sz="2200" u="none" cap="none" strike="noStrike"/>
          </a:p>
        </p:txBody>
      </p:sp>
      <p:sp>
        <p:nvSpPr>
          <p:cNvPr id="130" name="Google Shape;130;p19"/>
          <p:cNvSpPr/>
          <p:nvPr/>
        </p:nvSpPr>
        <p:spPr>
          <a:xfrm>
            <a:off x="7777282" y="3236595"/>
            <a:ext cx="580203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Fast, low-latency memory shared among threads within a block. Limited size (~48KB) but crucial for performance optimization.</a:t>
            </a:r>
            <a:endParaRPr b="0" i="0" sz="1750" u="none" cap="none" strike="noStrike"/>
          </a:p>
        </p:txBody>
      </p:sp>
      <p:sp>
        <p:nvSpPr>
          <p:cNvPr id="131" name="Google Shape;131;p19"/>
          <p:cNvSpPr/>
          <p:nvPr/>
        </p:nvSpPr>
        <p:spPr>
          <a:xfrm>
            <a:off x="793790" y="4809411"/>
            <a:ext cx="6407944" cy="2093714"/>
          </a:xfrm>
          <a:prstGeom prst="roundRect">
            <a:avLst>
              <a:gd fmla="val 6988" name="adj"/>
            </a:avLst>
          </a:prstGeom>
          <a:solidFill>
            <a:srgbClr val="2A2A2D">
              <a:alpha val="94901"/>
            </a:srgbClr>
          </a:solidFill>
          <a:ln cap="flat" cmpd="sng" w="3047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19"/>
          <p:cNvPicPr preferRelativeResize="0"/>
          <p:nvPr/>
        </p:nvPicPr>
        <p:blipFill rotWithShape="1">
          <a:blip r:embed="rId3">
            <a:alphaModFix/>
          </a:blip>
          <a:srcRect b="0" l="0" r="0" t="0"/>
          <a:stretch/>
        </p:blipFill>
        <p:spPr>
          <a:xfrm>
            <a:off x="763310" y="4809411"/>
            <a:ext cx="121920" cy="2093714"/>
          </a:xfrm>
          <a:prstGeom prst="rect">
            <a:avLst/>
          </a:prstGeom>
          <a:noFill/>
          <a:ln>
            <a:noFill/>
          </a:ln>
        </p:spPr>
      </p:pic>
      <p:sp>
        <p:nvSpPr>
          <p:cNvPr id="133" name="Google Shape;133;p19"/>
          <p:cNvSpPr/>
          <p:nvPr/>
        </p:nvSpPr>
        <p:spPr>
          <a:xfrm>
            <a:off x="1142524" y="506670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Registers</a:t>
            </a:r>
            <a:endParaRPr b="0" i="0" sz="2200" u="none" cap="none" strike="noStrike"/>
          </a:p>
        </p:txBody>
      </p:sp>
      <p:sp>
        <p:nvSpPr>
          <p:cNvPr id="134" name="Google Shape;134;p19"/>
          <p:cNvSpPr/>
          <p:nvPr/>
        </p:nvSpPr>
        <p:spPr>
          <a:xfrm>
            <a:off x="1142524" y="5557123"/>
            <a:ext cx="5801916"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Fastest memory, private to each thread. Automatically managed by compiler but limited in quantity per thread.</a:t>
            </a:r>
            <a:endParaRPr b="0" i="0" sz="1750" u="none" cap="none" strike="noStrike"/>
          </a:p>
        </p:txBody>
      </p:sp>
      <p:sp>
        <p:nvSpPr>
          <p:cNvPr id="135" name="Google Shape;135;p19"/>
          <p:cNvSpPr/>
          <p:nvPr/>
        </p:nvSpPr>
        <p:spPr>
          <a:xfrm>
            <a:off x="7428548" y="4809411"/>
            <a:ext cx="6408063" cy="2093714"/>
          </a:xfrm>
          <a:prstGeom prst="roundRect">
            <a:avLst>
              <a:gd fmla="val 6988" name="adj"/>
            </a:avLst>
          </a:prstGeom>
          <a:solidFill>
            <a:srgbClr val="2A2A2D">
              <a:alpha val="94901"/>
            </a:srgbClr>
          </a:solidFill>
          <a:ln cap="flat" cmpd="sng" w="3047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 name="Google Shape;136;p19"/>
          <p:cNvPicPr preferRelativeResize="0"/>
          <p:nvPr/>
        </p:nvPicPr>
        <p:blipFill rotWithShape="1">
          <a:blip r:embed="rId3">
            <a:alphaModFix/>
          </a:blip>
          <a:srcRect b="0" l="0" r="0" t="0"/>
          <a:stretch/>
        </p:blipFill>
        <p:spPr>
          <a:xfrm>
            <a:off x="7398067" y="4809411"/>
            <a:ext cx="121920" cy="2093714"/>
          </a:xfrm>
          <a:prstGeom prst="rect">
            <a:avLst/>
          </a:prstGeom>
          <a:noFill/>
          <a:ln>
            <a:noFill/>
          </a:ln>
        </p:spPr>
      </p:pic>
      <p:sp>
        <p:nvSpPr>
          <p:cNvPr id="137" name="Google Shape;137;p19"/>
          <p:cNvSpPr/>
          <p:nvPr/>
        </p:nvSpPr>
        <p:spPr>
          <a:xfrm>
            <a:off x="7777282" y="5066705"/>
            <a:ext cx="377106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Constant &amp; Texture Memory</a:t>
            </a:r>
            <a:endParaRPr b="0" i="0" sz="2200" u="none" cap="none" strike="noStrike"/>
          </a:p>
        </p:txBody>
      </p:sp>
      <p:sp>
        <p:nvSpPr>
          <p:cNvPr id="138" name="Google Shape;138;p19"/>
          <p:cNvSpPr/>
          <p:nvPr/>
        </p:nvSpPr>
        <p:spPr>
          <a:xfrm>
            <a:off x="7777282" y="5557123"/>
            <a:ext cx="580203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Read-only cached memories optimized for specific access patterns, ideal for lookup tables and spatial data.</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0" title="download.jpg"/>
          <p:cNvPicPr preferRelativeResize="0"/>
          <p:nvPr/>
        </p:nvPicPr>
        <p:blipFill rotWithShape="1">
          <a:blip r:embed="rId3">
            <a:alphaModFix/>
          </a:blip>
          <a:srcRect b="0" l="31333" r="31333" t="0"/>
          <a:stretch/>
        </p:blipFill>
        <p:spPr>
          <a:xfrm>
            <a:off x="0" y="0"/>
            <a:ext cx="5486400" cy="8229600"/>
          </a:xfrm>
          <a:prstGeom prst="rect">
            <a:avLst/>
          </a:prstGeom>
          <a:noFill/>
          <a:ln>
            <a:noFill/>
          </a:ln>
        </p:spPr>
      </p:pic>
      <p:sp>
        <p:nvSpPr>
          <p:cNvPr id="145" name="Google Shape;145;p20"/>
          <p:cNvSpPr/>
          <p:nvPr/>
        </p:nvSpPr>
        <p:spPr>
          <a:xfrm>
            <a:off x="6275070" y="621268"/>
            <a:ext cx="5794653" cy="63377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CBCCCE"/>
              </a:buClr>
              <a:buSzPts val="3950"/>
              <a:buFont typeface="Instrument Sans"/>
              <a:buNone/>
            </a:pPr>
            <a:r>
              <a:rPr b="0" i="0" lang="en-US" sz="3950" u="none" cap="none" strike="noStrike">
                <a:solidFill>
                  <a:srgbClr val="CBCCCE"/>
                </a:solidFill>
                <a:latin typeface="Instrument Sans"/>
                <a:ea typeface="Instrument Sans"/>
                <a:cs typeface="Instrument Sans"/>
                <a:sym typeface="Instrument Sans"/>
              </a:rPr>
              <a:t>Real-World Applications</a:t>
            </a:r>
            <a:endParaRPr b="0" i="0" sz="3950" u="none" cap="none" strike="noStrike"/>
          </a:p>
        </p:txBody>
      </p:sp>
      <p:pic>
        <p:nvPicPr>
          <p:cNvPr descr="preencoded.png" id="146" name="Google Shape;146;p20"/>
          <p:cNvPicPr preferRelativeResize="0"/>
          <p:nvPr/>
        </p:nvPicPr>
        <p:blipFill rotWithShape="1">
          <a:blip r:embed="rId4">
            <a:alphaModFix/>
          </a:blip>
          <a:srcRect b="0" l="0" r="0" t="0"/>
          <a:stretch/>
        </p:blipFill>
        <p:spPr>
          <a:xfrm>
            <a:off x="6275070" y="1559243"/>
            <a:ext cx="506968" cy="506968"/>
          </a:xfrm>
          <a:prstGeom prst="rect">
            <a:avLst/>
          </a:prstGeom>
          <a:noFill/>
          <a:ln>
            <a:noFill/>
          </a:ln>
        </p:spPr>
      </p:pic>
      <p:sp>
        <p:nvSpPr>
          <p:cNvPr id="147" name="Google Shape;147;p20"/>
          <p:cNvSpPr/>
          <p:nvPr/>
        </p:nvSpPr>
        <p:spPr>
          <a:xfrm>
            <a:off x="7035522" y="1679615"/>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a:buNone/>
            </a:pPr>
            <a:r>
              <a:rPr b="0" i="0" lang="en-US" sz="1950" u="none" cap="none" strike="noStrike">
                <a:solidFill>
                  <a:srgbClr val="CFD0D8"/>
                </a:solidFill>
                <a:latin typeface="Instrument Sans"/>
                <a:ea typeface="Instrument Sans"/>
                <a:cs typeface="Instrument Sans"/>
                <a:sym typeface="Instrument Sans"/>
              </a:rPr>
              <a:t>Medical Imaging</a:t>
            </a:r>
            <a:endParaRPr b="0" i="0" sz="1950" u="none" cap="none" strike="noStrike"/>
          </a:p>
        </p:txBody>
      </p:sp>
      <p:sp>
        <p:nvSpPr>
          <p:cNvPr id="148" name="Google Shape;148;p20"/>
          <p:cNvSpPr/>
          <p:nvPr/>
        </p:nvSpPr>
        <p:spPr>
          <a:xfrm>
            <a:off x="7035522" y="2118122"/>
            <a:ext cx="6806208" cy="649129"/>
          </a:xfrm>
          <a:prstGeom prst="rect">
            <a:avLst/>
          </a:prstGeom>
          <a:noFill/>
          <a:ln>
            <a:noFill/>
          </a:ln>
        </p:spPr>
        <p:txBody>
          <a:bodyPr anchorCtr="0" anchor="t" bIns="0" lIns="0" spcFirstLastPara="1" rIns="0" wrap="square" tIns="0">
            <a:noAutofit/>
          </a:bodyPr>
          <a:lstStyle/>
          <a:p>
            <a:pPr indent="0" lvl="0" marL="0" rtl="0" algn="l">
              <a:lnSpc>
                <a:spcPct val="164516"/>
              </a:lnSpc>
              <a:spcBef>
                <a:spcPts val="0"/>
              </a:spcBef>
              <a:spcAft>
                <a:spcPts val="0"/>
              </a:spcAft>
              <a:buClr>
                <a:schemeClr val="dk1"/>
              </a:buClr>
              <a:buSzPts val="1100"/>
              <a:buFont typeface="Arial"/>
              <a:buNone/>
            </a:pPr>
            <a:r>
              <a:rPr lang="en-US" sz="1550">
                <a:solidFill>
                  <a:srgbClr val="CFD0D8"/>
                </a:solidFill>
                <a:latin typeface="Instrument Sans"/>
                <a:ea typeface="Instrument Sans"/>
                <a:cs typeface="Instrument Sans"/>
                <a:sym typeface="Instrument Sans"/>
              </a:rPr>
              <a:t>Accelerating CT and MRI reconstruction for 3D visualization in real-time and rapid diagnostic analysis.</a:t>
            </a:r>
            <a:endParaRPr sz="1550">
              <a:solidFill>
                <a:srgbClr val="CFD0D8"/>
              </a:solidFill>
              <a:latin typeface="Instrument Sans"/>
              <a:ea typeface="Instrument Sans"/>
              <a:cs typeface="Instrument Sans"/>
              <a:sym typeface="Instrument Sans"/>
            </a:endParaRPr>
          </a:p>
          <a:p>
            <a:pPr indent="0" lvl="0" marL="0" rtl="0" algn="l">
              <a:lnSpc>
                <a:spcPct val="164516"/>
              </a:lnSpc>
              <a:spcBef>
                <a:spcPts val="0"/>
              </a:spcBef>
              <a:spcAft>
                <a:spcPts val="0"/>
              </a:spcAft>
              <a:buClr>
                <a:schemeClr val="dk1"/>
              </a:buClr>
              <a:buSzPts val="1100"/>
              <a:buFont typeface="Arial"/>
              <a:buNone/>
            </a:pPr>
            <a:r>
              <a:t/>
            </a:r>
            <a:endParaRPr sz="1550">
              <a:solidFill>
                <a:srgbClr val="CFD0D8"/>
              </a:solidFill>
              <a:latin typeface="Instrument Sans"/>
              <a:ea typeface="Instrument Sans"/>
              <a:cs typeface="Instrument Sans"/>
              <a:sym typeface="Instrument Sans"/>
            </a:endParaRPr>
          </a:p>
          <a:p>
            <a:pPr indent="0" lvl="0" marL="0" marR="0" rtl="0" algn="l">
              <a:lnSpc>
                <a:spcPct val="164516"/>
              </a:lnSpc>
              <a:spcBef>
                <a:spcPts val="0"/>
              </a:spcBef>
              <a:spcAft>
                <a:spcPts val="0"/>
              </a:spcAft>
              <a:buClr>
                <a:srgbClr val="CFD0D8"/>
              </a:buClr>
              <a:buSzPts val="1550"/>
              <a:buFont typeface="Instrument Sans"/>
              <a:buNone/>
            </a:pPr>
            <a:r>
              <a:t/>
            </a:r>
            <a:endParaRPr sz="1550">
              <a:solidFill>
                <a:srgbClr val="CFD0D8"/>
              </a:solidFill>
              <a:latin typeface="Instrument Sans"/>
              <a:ea typeface="Instrument Sans"/>
              <a:cs typeface="Instrument Sans"/>
              <a:sym typeface="Instrument Sans"/>
            </a:endParaRPr>
          </a:p>
        </p:txBody>
      </p:sp>
      <p:pic>
        <p:nvPicPr>
          <p:cNvPr descr="preencoded.png" id="149" name="Google Shape;149;p20"/>
          <p:cNvPicPr preferRelativeResize="0"/>
          <p:nvPr/>
        </p:nvPicPr>
        <p:blipFill rotWithShape="1">
          <a:blip r:embed="rId5">
            <a:alphaModFix/>
          </a:blip>
          <a:srcRect b="0" l="0" r="0" t="0"/>
          <a:stretch/>
        </p:blipFill>
        <p:spPr>
          <a:xfrm>
            <a:off x="6275070" y="3172897"/>
            <a:ext cx="506968" cy="506968"/>
          </a:xfrm>
          <a:prstGeom prst="rect">
            <a:avLst/>
          </a:prstGeom>
          <a:noFill/>
          <a:ln>
            <a:noFill/>
          </a:ln>
        </p:spPr>
      </p:pic>
      <p:sp>
        <p:nvSpPr>
          <p:cNvPr id="150" name="Google Shape;150;p20"/>
          <p:cNvSpPr/>
          <p:nvPr/>
        </p:nvSpPr>
        <p:spPr>
          <a:xfrm>
            <a:off x="7035522" y="3293269"/>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a:buNone/>
            </a:pPr>
            <a:r>
              <a:rPr b="0" i="0" lang="en-US" sz="1950" u="none" cap="none" strike="noStrike">
                <a:solidFill>
                  <a:srgbClr val="CFD0D8"/>
                </a:solidFill>
                <a:latin typeface="Instrument Sans"/>
                <a:ea typeface="Instrument Sans"/>
                <a:cs typeface="Instrument Sans"/>
                <a:sym typeface="Instrument Sans"/>
              </a:rPr>
              <a:t>Deep Learning</a:t>
            </a:r>
            <a:endParaRPr b="0" i="0" sz="1950" u="none" cap="none" strike="noStrike"/>
          </a:p>
        </p:txBody>
      </p:sp>
      <p:sp>
        <p:nvSpPr>
          <p:cNvPr id="151" name="Google Shape;151;p20"/>
          <p:cNvSpPr/>
          <p:nvPr/>
        </p:nvSpPr>
        <p:spPr>
          <a:xfrm>
            <a:off x="7035522" y="3731776"/>
            <a:ext cx="6806208" cy="649129"/>
          </a:xfrm>
          <a:prstGeom prst="rect">
            <a:avLst/>
          </a:prstGeom>
          <a:noFill/>
          <a:ln>
            <a:noFill/>
          </a:ln>
        </p:spPr>
        <p:txBody>
          <a:bodyPr anchorCtr="0" anchor="t" bIns="0" lIns="0" spcFirstLastPara="1" rIns="0" wrap="square" tIns="0">
            <a:noAutofit/>
          </a:bodyPr>
          <a:lstStyle/>
          <a:p>
            <a:pPr indent="0" lvl="0" marL="0" rtl="0" algn="l">
              <a:lnSpc>
                <a:spcPct val="164516"/>
              </a:lnSpc>
              <a:spcBef>
                <a:spcPts val="0"/>
              </a:spcBef>
              <a:spcAft>
                <a:spcPts val="0"/>
              </a:spcAft>
              <a:buClr>
                <a:schemeClr val="dk1"/>
              </a:buClr>
              <a:buSzPts val="1100"/>
              <a:buFont typeface="Arial"/>
              <a:buNone/>
            </a:pPr>
            <a:r>
              <a:rPr lang="en-US" sz="1550">
                <a:solidFill>
                  <a:srgbClr val="CFD0D8"/>
                </a:solidFill>
                <a:latin typeface="Instrument Sans"/>
                <a:ea typeface="Instrument Sans"/>
                <a:cs typeface="Instrument Sans"/>
                <a:sym typeface="Instrument Sans"/>
              </a:rPr>
              <a:t>Training neural networks for computer vision, natural language processing, and AI with massive speedups.</a:t>
            </a:r>
            <a:endParaRPr sz="1550">
              <a:solidFill>
                <a:srgbClr val="CFD0D8"/>
              </a:solidFill>
              <a:latin typeface="Instrument Sans"/>
              <a:ea typeface="Instrument Sans"/>
              <a:cs typeface="Instrument Sans"/>
              <a:sym typeface="Instrument Sans"/>
            </a:endParaRPr>
          </a:p>
          <a:p>
            <a:pPr indent="0" lvl="0" marL="0" rtl="0" algn="l">
              <a:lnSpc>
                <a:spcPct val="164516"/>
              </a:lnSpc>
              <a:spcBef>
                <a:spcPts val="0"/>
              </a:spcBef>
              <a:spcAft>
                <a:spcPts val="0"/>
              </a:spcAft>
              <a:buClr>
                <a:schemeClr val="dk1"/>
              </a:buClr>
              <a:buSzPts val="1100"/>
              <a:buFont typeface="Arial"/>
              <a:buNone/>
            </a:pPr>
            <a:r>
              <a:t/>
            </a:r>
            <a:endParaRPr sz="1550">
              <a:solidFill>
                <a:srgbClr val="CFD0D8"/>
              </a:solidFill>
              <a:latin typeface="Instrument Sans"/>
              <a:ea typeface="Instrument Sans"/>
              <a:cs typeface="Instrument Sans"/>
              <a:sym typeface="Instrument Sans"/>
            </a:endParaRPr>
          </a:p>
          <a:p>
            <a:pPr indent="0" lvl="0" marL="0" marR="0" rtl="0" algn="l">
              <a:lnSpc>
                <a:spcPct val="164516"/>
              </a:lnSpc>
              <a:spcBef>
                <a:spcPts val="0"/>
              </a:spcBef>
              <a:spcAft>
                <a:spcPts val="0"/>
              </a:spcAft>
              <a:buClr>
                <a:srgbClr val="CFD0D8"/>
              </a:buClr>
              <a:buSzPts val="1550"/>
              <a:buFont typeface="Instrument Sans"/>
              <a:buNone/>
            </a:pPr>
            <a:r>
              <a:t/>
            </a:r>
            <a:endParaRPr sz="1550">
              <a:solidFill>
                <a:srgbClr val="CFD0D8"/>
              </a:solidFill>
              <a:latin typeface="Instrument Sans"/>
              <a:ea typeface="Instrument Sans"/>
              <a:cs typeface="Instrument Sans"/>
              <a:sym typeface="Instrument Sans"/>
            </a:endParaRPr>
          </a:p>
        </p:txBody>
      </p:sp>
      <p:pic>
        <p:nvPicPr>
          <p:cNvPr descr="preencoded.png" id="152" name="Google Shape;152;p20"/>
          <p:cNvPicPr preferRelativeResize="0"/>
          <p:nvPr/>
        </p:nvPicPr>
        <p:blipFill rotWithShape="1">
          <a:blip r:embed="rId6">
            <a:alphaModFix/>
          </a:blip>
          <a:srcRect b="0" l="0" r="0" t="0"/>
          <a:stretch/>
        </p:blipFill>
        <p:spPr>
          <a:xfrm>
            <a:off x="6275070" y="4786551"/>
            <a:ext cx="506968" cy="506968"/>
          </a:xfrm>
          <a:prstGeom prst="rect">
            <a:avLst/>
          </a:prstGeom>
          <a:noFill/>
          <a:ln>
            <a:noFill/>
          </a:ln>
        </p:spPr>
      </p:pic>
      <p:sp>
        <p:nvSpPr>
          <p:cNvPr id="153" name="Google Shape;153;p20"/>
          <p:cNvSpPr/>
          <p:nvPr/>
        </p:nvSpPr>
        <p:spPr>
          <a:xfrm>
            <a:off x="7035522" y="4906923"/>
            <a:ext cx="2535317"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a:buNone/>
            </a:pPr>
            <a:r>
              <a:rPr b="0" i="0" lang="en-US" sz="1950" u="none" cap="none" strike="noStrike">
                <a:solidFill>
                  <a:srgbClr val="CFD0D8"/>
                </a:solidFill>
                <a:latin typeface="Instrument Sans"/>
                <a:ea typeface="Instrument Sans"/>
                <a:cs typeface="Instrument Sans"/>
                <a:sym typeface="Instrument Sans"/>
              </a:rPr>
              <a:t>Financial Modeling</a:t>
            </a:r>
            <a:endParaRPr b="0" i="0" sz="1950" u="none" cap="none" strike="noStrike"/>
          </a:p>
        </p:txBody>
      </p:sp>
      <p:sp>
        <p:nvSpPr>
          <p:cNvPr id="154" name="Google Shape;154;p20"/>
          <p:cNvSpPr/>
          <p:nvPr/>
        </p:nvSpPr>
        <p:spPr>
          <a:xfrm>
            <a:off x="7035522" y="5345430"/>
            <a:ext cx="6806208" cy="649129"/>
          </a:xfrm>
          <a:prstGeom prst="rect">
            <a:avLst/>
          </a:prstGeom>
          <a:noFill/>
          <a:ln>
            <a:noFill/>
          </a:ln>
        </p:spPr>
        <p:txBody>
          <a:bodyPr anchorCtr="0" anchor="t" bIns="0" lIns="0" spcFirstLastPara="1" rIns="0" wrap="square" tIns="0">
            <a:noAutofit/>
          </a:bodyPr>
          <a:lstStyle/>
          <a:p>
            <a:pPr indent="0" lvl="0" marL="0" rtl="0" algn="l">
              <a:lnSpc>
                <a:spcPct val="164516"/>
              </a:lnSpc>
              <a:spcBef>
                <a:spcPts val="0"/>
              </a:spcBef>
              <a:spcAft>
                <a:spcPts val="0"/>
              </a:spcAft>
              <a:buClr>
                <a:schemeClr val="dk1"/>
              </a:buClr>
              <a:buSzPts val="1100"/>
              <a:buFont typeface="Arial"/>
              <a:buNone/>
            </a:pPr>
            <a:r>
              <a:rPr lang="en-US" sz="1550">
                <a:solidFill>
                  <a:srgbClr val="CFD0D8"/>
                </a:solidFill>
                <a:latin typeface="Instrument Sans"/>
                <a:ea typeface="Instrument Sans"/>
                <a:cs typeface="Instrument Sans"/>
                <a:sym typeface="Instrument Sans"/>
              </a:rPr>
              <a:t>High frequency trading algorithms, risk analysis, and Monte Carlo simulations to process millions of scenarios.</a:t>
            </a:r>
            <a:endParaRPr sz="1550">
              <a:solidFill>
                <a:srgbClr val="CFD0D8"/>
              </a:solidFill>
              <a:latin typeface="Instrument Sans"/>
              <a:ea typeface="Instrument Sans"/>
              <a:cs typeface="Instrument Sans"/>
              <a:sym typeface="Instrument Sans"/>
            </a:endParaRPr>
          </a:p>
          <a:p>
            <a:pPr indent="0" lvl="0" marL="0" rtl="0" algn="l">
              <a:lnSpc>
                <a:spcPct val="164516"/>
              </a:lnSpc>
              <a:spcBef>
                <a:spcPts val="0"/>
              </a:spcBef>
              <a:spcAft>
                <a:spcPts val="0"/>
              </a:spcAft>
              <a:buClr>
                <a:schemeClr val="dk1"/>
              </a:buClr>
              <a:buSzPts val="1100"/>
              <a:buFont typeface="Arial"/>
              <a:buNone/>
            </a:pPr>
            <a:r>
              <a:t/>
            </a:r>
            <a:endParaRPr sz="1550">
              <a:solidFill>
                <a:srgbClr val="CFD0D8"/>
              </a:solidFill>
              <a:latin typeface="Instrument Sans"/>
              <a:ea typeface="Instrument Sans"/>
              <a:cs typeface="Instrument Sans"/>
              <a:sym typeface="Instrument Sans"/>
            </a:endParaRPr>
          </a:p>
          <a:p>
            <a:pPr indent="0" lvl="0" marL="0" marR="0" rtl="0" algn="l">
              <a:lnSpc>
                <a:spcPct val="164516"/>
              </a:lnSpc>
              <a:spcBef>
                <a:spcPts val="0"/>
              </a:spcBef>
              <a:spcAft>
                <a:spcPts val="0"/>
              </a:spcAft>
              <a:buClr>
                <a:srgbClr val="CFD0D8"/>
              </a:buClr>
              <a:buSzPts val="1550"/>
              <a:buFont typeface="Instrument Sans"/>
              <a:buNone/>
            </a:pPr>
            <a:r>
              <a:t/>
            </a:r>
            <a:endParaRPr sz="1550">
              <a:solidFill>
                <a:srgbClr val="CFD0D8"/>
              </a:solidFill>
              <a:latin typeface="Instrument Sans"/>
              <a:ea typeface="Instrument Sans"/>
              <a:cs typeface="Instrument Sans"/>
              <a:sym typeface="Instrument Sans"/>
            </a:endParaRPr>
          </a:p>
        </p:txBody>
      </p:sp>
      <p:pic>
        <p:nvPicPr>
          <p:cNvPr descr="preencoded.png" id="155" name="Google Shape;155;p20"/>
          <p:cNvPicPr preferRelativeResize="0"/>
          <p:nvPr/>
        </p:nvPicPr>
        <p:blipFill rotWithShape="1">
          <a:blip r:embed="rId7">
            <a:alphaModFix/>
          </a:blip>
          <a:srcRect b="0" l="0" r="0" t="0"/>
          <a:stretch/>
        </p:blipFill>
        <p:spPr>
          <a:xfrm>
            <a:off x="6275070" y="6400205"/>
            <a:ext cx="506968" cy="506968"/>
          </a:xfrm>
          <a:prstGeom prst="rect">
            <a:avLst/>
          </a:prstGeom>
          <a:noFill/>
          <a:ln>
            <a:noFill/>
          </a:ln>
        </p:spPr>
      </p:pic>
      <p:sp>
        <p:nvSpPr>
          <p:cNvPr id="156" name="Google Shape;156;p20"/>
          <p:cNvSpPr/>
          <p:nvPr/>
        </p:nvSpPr>
        <p:spPr>
          <a:xfrm>
            <a:off x="7035522" y="6520577"/>
            <a:ext cx="2540198" cy="3168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a:buNone/>
            </a:pPr>
            <a:r>
              <a:rPr b="0" i="0" lang="en-US" sz="1950" u="none" cap="none" strike="noStrike">
                <a:solidFill>
                  <a:srgbClr val="CFD0D8"/>
                </a:solidFill>
                <a:latin typeface="Instrument Sans"/>
                <a:ea typeface="Instrument Sans"/>
                <a:cs typeface="Instrument Sans"/>
                <a:sym typeface="Instrument Sans"/>
              </a:rPr>
              <a:t>Scientific Computing</a:t>
            </a:r>
            <a:endParaRPr b="0" i="0" sz="1950" u="none" cap="none" strike="noStrike"/>
          </a:p>
        </p:txBody>
      </p:sp>
      <p:sp>
        <p:nvSpPr>
          <p:cNvPr id="157" name="Google Shape;157;p20"/>
          <p:cNvSpPr/>
          <p:nvPr/>
        </p:nvSpPr>
        <p:spPr>
          <a:xfrm>
            <a:off x="7035522" y="6959084"/>
            <a:ext cx="6806208" cy="649129"/>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CFD0D8"/>
              </a:buClr>
              <a:buSzPts val="1550"/>
              <a:buFont typeface="Instrument Sans"/>
              <a:buNone/>
            </a:pPr>
            <a:r>
              <a:rPr lang="en-US" sz="1550">
                <a:solidFill>
                  <a:srgbClr val="CFD0D8"/>
                </a:solidFill>
                <a:latin typeface="Instrument Sans"/>
                <a:ea typeface="Instrument Sans"/>
                <a:cs typeface="Instrument Sans"/>
                <a:sym typeface="Instrument Sans"/>
              </a:rPr>
              <a:t>Weather simulation, molecular dynamics, computational fluid dynamics, and climate modeling at previously unreachable scales.</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p:nvPr/>
        </p:nvSpPr>
        <p:spPr>
          <a:xfrm>
            <a:off x="793790" y="718899"/>
            <a:ext cx="4834652"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BCCCE"/>
              </a:buClr>
              <a:buSzPts val="3100"/>
              <a:buFont typeface="Instrument Sans"/>
              <a:buNone/>
            </a:pPr>
            <a:r>
              <a:rPr b="0" i="0" lang="en-US" sz="3100" u="none" cap="none" strike="noStrike">
                <a:solidFill>
                  <a:srgbClr val="CBCCCE"/>
                </a:solidFill>
                <a:latin typeface="Instrument Sans"/>
                <a:ea typeface="Instrument Sans"/>
                <a:cs typeface="Instrument Sans"/>
                <a:sym typeface="Instrument Sans"/>
              </a:rPr>
              <a:t>Performance Comparison</a:t>
            </a:r>
            <a:endParaRPr b="0" i="0" sz="3100" u="none" cap="none" strike="noStrike"/>
          </a:p>
        </p:txBody>
      </p:sp>
      <p:sp>
        <p:nvSpPr>
          <p:cNvPr id="164" name="Google Shape;164;p21"/>
          <p:cNvSpPr/>
          <p:nvPr/>
        </p:nvSpPr>
        <p:spPr>
          <a:xfrm>
            <a:off x="793790" y="1532573"/>
            <a:ext cx="13042821"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FD0D8"/>
              </a:buClr>
              <a:buSzPts val="1250"/>
              <a:buFont typeface="Instrument Sans"/>
              <a:buNone/>
            </a:pPr>
            <a:r>
              <a:rPr b="0" i="0" lang="en-US" sz="1250" u="none" cap="none" strike="noStrike">
                <a:solidFill>
                  <a:srgbClr val="CFD0D8"/>
                </a:solidFill>
                <a:latin typeface="Instrument Sans"/>
                <a:ea typeface="Instrument Sans"/>
                <a:cs typeface="Instrument Sans"/>
                <a:sym typeface="Instrument Sans"/>
              </a:rPr>
              <a:t>GPU acceleration delivers dramatic speedups for parallel workloads compared to traditional CPU execution:</a:t>
            </a:r>
            <a:endParaRPr b="0" i="0" sz="1250" u="none" cap="none" strike="noStrike"/>
          </a:p>
        </p:txBody>
      </p:sp>
      <p:pic>
        <p:nvPicPr>
          <p:cNvPr descr="preencoded.png" id="165" name="Google Shape;165;p21"/>
          <p:cNvPicPr preferRelativeResize="0"/>
          <p:nvPr/>
        </p:nvPicPr>
        <p:blipFill rotWithShape="1">
          <a:blip r:embed="rId3">
            <a:alphaModFix/>
          </a:blip>
          <a:srcRect b="0" l="0" r="0" t="0"/>
          <a:stretch/>
        </p:blipFill>
        <p:spPr>
          <a:xfrm>
            <a:off x="793790" y="1965246"/>
            <a:ext cx="9129951" cy="5112663"/>
          </a:xfrm>
          <a:prstGeom prst="rect">
            <a:avLst/>
          </a:prstGeom>
          <a:noFill/>
          <a:ln>
            <a:noFill/>
          </a:ln>
        </p:spPr>
      </p:pic>
      <p:sp>
        <p:nvSpPr>
          <p:cNvPr id="166" name="Google Shape;166;p21"/>
          <p:cNvSpPr/>
          <p:nvPr/>
        </p:nvSpPr>
        <p:spPr>
          <a:xfrm>
            <a:off x="793790" y="7256502"/>
            <a:ext cx="13042821"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FD0D8"/>
              </a:buClr>
              <a:buSzPts val="1250"/>
              <a:buFont typeface="Instrument Sans"/>
              <a:buNone/>
            </a:pPr>
            <a:r>
              <a:rPr b="0" i="0" lang="en-US" sz="1250" u="none" cap="none" strike="noStrike">
                <a:solidFill>
                  <a:srgbClr val="CFD0D8"/>
                </a:solidFill>
                <a:latin typeface="Instrument Sans"/>
                <a:ea typeface="Instrument Sans"/>
                <a:cs typeface="Instrument Sans"/>
                <a:sym typeface="Instrument Sans"/>
              </a:rPr>
              <a:t>These speedups represent typical performance gains when moving from optimized CPU code to well-written CUDA implementations.</a:t>
            </a:r>
            <a:endParaRPr b="0" i="0" sz="12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p:nvPr/>
        </p:nvSpPr>
        <p:spPr>
          <a:xfrm>
            <a:off x="793790" y="1091208"/>
            <a:ext cx="634734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Optimization Strategies</a:t>
            </a:r>
            <a:endParaRPr b="0" i="0" sz="4450" u="none" cap="none" strike="noStrike"/>
          </a:p>
        </p:txBody>
      </p:sp>
      <p:pic>
        <p:nvPicPr>
          <p:cNvPr descr="preencoded.png" id="173" name="Google Shape;173;p22"/>
          <p:cNvPicPr preferRelativeResize="0"/>
          <p:nvPr/>
        </p:nvPicPr>
        <p:blipFill rotWithShape="1">
          <a:blip r:embed="rId3">
            <a:alphaModFix/>
          </a:blip>
          <a:srcRect b="0" l="0" r="0" t="0"/>
          <a:stretch/>
        </p:blipFill>
        <p:spPr>
          <a:xfrm>
            <a:off x="793790" y="2253615"/>
            <a:ext cx="4347567" cy="907256"/>
          </a:xfrm>
          <a:prstGeom prst="rect">
            <a:avLst/>
          </a:prstGeom>
          <a:noFill/>
          <a:ln>
            <a:noFill/>
          </a:ln>
        </p:spPr>
      </p:pic>
      <p:sp>
        <p:nvSpPr>
          <p:cNvPr id="174" name="Google Shape;174;p22"/>
          <p:cNvSpPr/>
          <p:nvPr/>
        </p:nvSpPr>
        <p:spPr>
          <a:xfrm>
            <a:off x="1020604" y="338768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Memory Coalescing</a:t>
            </a:r>
            <a:endParaRPr b="0" i="0" sz="2200" u="none" cap="none" strike="noStrike"/>
          </a:p>
        </p:txBody>
      </p:sp>
      <p:sp>
        <p:nvSpPr>
          <p:cNvPr id="175" name="Google Shape;175;p22"/>
          <p:cNvSpPr/>
          <p:nvPr/>
        </p:nvSpPr>
        <p:spPr>
          <a:xfrm>
            <a:off x="1020604" y="3878104"/>
            <a:ext cx="3893939" cy="145161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US" sz="1750">
                <a:solidFill>
                  <a:srgbClr val="CFD0D8"/>
                </a:solidFill>
                <a:latin typeface="Instrument Sans"/>
                <a:ea typeface="Instrument Sans"/>
                <a:cs typeface="Instrument Sans"/>
                <a:sym typeface="Instrument Sans"/>
              </a:rPr>
              <a:t>Coalesce your global memory accesses, by having threads access sequential addresses</a:t>
            </a:r>
            <a:endParaRPr sz="1750">
              <a:solidFill>
                <a:srgbClr val="CFD0D8"/>
              </a:solidFill>
              <a:latin typeface="Instrument Sans"/>
              <a:ea typeface="Instrument Sans"/>
              <a:cs typeface="Instrument Sans"/>
              <a:sym typeface="Instrument Sans"/>
            </a:endParaRPr>
          </a:p>
          <a:p>
            <a:pPr indent="0" lvl="0" marL="0" rtl="0" algn="l">
              <a:lnSpc>
                <a:spcPct val="162857"/>
              </a:lnSpc>
              <a:spcBef>
                <a:spcPts val="0"/>
              </a:spcBef>
              <a:spcAft>
                <a:spcPts val="0"/>
              </a:spcAft>
              <a:buClr>
                <a:schemeClr val="dk1"/>
              </a:buClr>
              <a:buSzPts val="1100"/>
              <a:buFont typeface="Arial"/>
              <a:buNone/>
            </a:pPr>
            <a:r>
              <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pic>
        <p:nvPicPr>
          <p:cNvPr descr="preencoded.png" id="176" name="Google Shape;176;p22"/>
          <p:cNvPicPr preferRelativeResize="0"/>
          <p:nvPr/>
        </p:nvPicPr>
        <p:blipFill rotWithShape="1">
          <a:blip r:embed="rId4">
            <a:alphaModFix/>
          </a:blip>
          <a:srcRect b="0" l="0" r="0" t="0"/>
          <a:stretch/>
        </p:blipFill>
        <p:spPr>
          <a:xfrm>
            <a:off x="5141357" y="2253615"/>
            <a:ext cx="4347567" cy="907256"/>
          </a:xfrm>
          <a:prstGeom prst="rect">
            <a:avLst/>
          </a:prstGeom>
          <a:noFill/>
          <a:ln>
            <a:noFill/>
          </a:ln>
        </p:spPr>
      </p:pic>
      <p:sp>
        <p:nvSpPr>
          <p:cNvPr id="177" name="Google Shape;177;p22"/>
          <p:cNvSpPr/>
          <p:nvPr/>
        </p:nvSpPr>
        <p:spPr>
          <a:xfrm>
            <a:off x="5368171" y="3387685"/>
            <a:ext cx="331267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Occupancy Optimization</a:t>
            </a:r>
            <a:endParaRPr b="0" i="0" sz="2200" u="none" cap="none" strike="noStrike"/>
          </a:p>
        </p:txBody>
      </p:sp>
      <p:sp>
        <p:nvSpPr>
          <p:cNvPr id="178" name="Google Shape;178;p22"/>
          <p:cNvSpPr/>
          <p:nvPr/>
        </p:nvSpPr>
        <p:spPr>
          <a:xfrm>
            <a:off x="5368171" y="3878104"/>
            <a:ext cx="3893939" cy="1088708"/>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US" sz="1750">
                <a:solidFill>
                  <a:srgbClr val="CFD0D8"/>
                </a:solidFill>
                <a:latin typeface="Instrument Sans"/>
                <a:ea typeface="Instrument Sans"/>
                <a:cs typeface="Instrument Sans"/>
                <a:sym typeface="Instrument Sans"/>
              </a:rPr>
              <a:t>Tune your block size, register count and shared memory usage to get maximum threads per SM</a:t>
            </a:r>
            <a:endParaRPr sz="1750">
              <a:solidFill>
                <a:srgbClr val="CFD0D8"/>
              </a:solidFill>
              <a:latin typeface="Instrument Sans"/>
              <a:ea typeface="Instrument Sans"/>
              <a:cs typeface="Instrument Sans"/>
              <a:sym typeface="Instrument Sans"/>
            </a:endParaRPr>
          </a:p>
          <a:p>
            <a:pPr indent="0" lvl="0" marL="0" rtl="0" algn="l">
              <a:lnSpc>
                <a:spcPct val="162857"/>
              </a:lnSpc>
              <a:spcBef>
                <a:spcPts val="0"/>
              </a:spcBef>
              <a:spcAft>
                <a:spcPts val="0"/>
              </a:spcAft>
              <a:buClr>
                <a:schemeClr val="dk1"/>
              </a:buClr>
              <a:buSzPts val="1100"/>
              <a:buFont typeface="Arial"/>
              <a:buNone/>
            </a:pPr>
            <a:r>
              <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pic>
        <p:nvPicPr>
          <p:cNvPr descr="preencoded.png" id="179" name="Google Shape;179;p22"/>
          <p:cNvPicPr preferRelativeResize="0"/>
          <p:nvPr/>
        </p:nvPicPr>
        <p:blipFill rotWithShape="1">
          <a:blip r:embed="rId5">
            <a:alphaModFix/>
          </a:blip>
          <a:srcRect b="0" l="0" r="0" t="0"/>
          <a:stretch/>
        </p:blipFill>
        <p:spPr>
          <a:xfrm>
            <a:off x="9488924" y="2253615"/>
            <a:ext cx="4347567" cy="907256"/>
          </a:xfrm>
          <a:prstGeom prst="rect">
            <a:avLst/>
          </a:prstGeom>
          <a:noFill/>
          <a:ln>
            <a:noFill/>
          </a:ln>
        </p:spPr>
      </p:pic>
      <p:sp>
        <p:nvSpPr>
          <p:cNvPr id="180" name="Google Shape;180;p22"/>
          <p:cNvSpPr/>
          <p:nvPr/>
        </p:nvSpPr>
        <p:spPr>
          <a:xfrm>
            <a:off x="9715738" y="338768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0" i="0" lang="en-US" sz="2200" u="none" cap="none" strike="noStrike">
                <a:solidFill>
                  <a:srgbClr val="CFD0D8"/>
                </a:solidFill>
                <a:latin typeface="Instrument Sans"/>
                <a:ea typeface="Instrument Sans"/>
                <a:cs typeface="Instrument Sans"/>
                <a:sym typeface="Instrument Sans"/>
              </a:rPr>
              <a:t>Minimize Divergence</a:t>
            </a:r>
            <a:endParaRPr b="0" i="0" sz="2200" u="none" cap="none" strike="noStrike"/>
          </a:p>
        </p:txBody>
      </p:sp>
      <p:sp>
        <p:nvSpPr>
          <p:cNvPr id="181" name="Google Shape;181;p22"/>
          <p:cNvSpPr/>
          <p:nvPr/>
        </p:nvSpPr>
        <p:spPr>
          <a:xfrm>
            <a:off x="9715738" y="3878104"/>
            <a:ext cx="3893939" cy="1088708"/>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US" sz="1750">
                <a:solidFill>
                  <a:srgbClr val="CFD0D8"/>
                </a:solidFill>
                <a:latin typeface="Instrument Sans"/>
                <a:ea typeface="Instrument Sans"/>
                <a:cs typeface="Instrument Sans"/>
                <a:sym typeface="Instrument Sans"/>
              </a:rPr>
              <a:t>Minimize warp divergence, threads in a warp must stay in lockstep for highest performance</a:t>
            </a:r>
            <a:endParaRPr sz="1750">
              <a:solidFill>
                <a:srgbClr val="CFD0D8"/>
              </a:solidFill>
              <a:latin typeface="Instrument Sans"/>
              <a:ea typeface="Instrument Sans"/>
              <a:cs typeface="Instrument Sans"/>
              <a:sym typeface="Instrument Sans"/>
            </a:endParaRPr>
          </a:p>
          <a:p>
            <a:pPr indent="0" lvl="0" marL="0" rtl="0" algn="l">
              <a:lnSpc>
                <a:spcPct val="162857"/>
              </a:lnSpc>
              <a:spcBef>
                <a:spcPts val="0"/>
              </a:spcBef>
              <a:spcAft>
                <a:spcPts val="0"/>
              </a:spcAft>
              <a:buClr>
                <a:schemeClr val="dk1"/>
              </a:buClr>
              <a:buSzPts val="1100"/>
              <a:buFont typeface="Arial"/>
              <a:buNone/>
            </a:pPr>
            <a:r>
              <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sp>
        <p:nvSpPr>
          <p:cNvPr id="182" name="Google Shape;182;p22"/>
          <p:cNvSpPr/>
          <p:nvPr/>
        </p:nvSpPr>
        <p:spPr>
          <a:xfrm>
            <a:off x="793790" y="5811679"/>
            <a:ext cx="13042821" cy="1326713"/>
          </a:xfrm>
          <a:prstGeom prst="roundRect">
            <a:avLst>
              <a:gd fmla="val 7181" name="adj"/>
            </a:avLst>
          </a:prstGeom>
          <a:solidFill>
            <a:srgbClr val="2525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22"/>
          <p:cNvPicPr preferRelativeResize="0"/>
          <p:nvPr/>
        </p:nvPicPr>
        <p:blipFill rotWithShape="1">
          <a:blip r:embed="rId6">
            <a:alphaModFix/>
          </a:blip>
          <a:srcRect b="0" l="0" r="0" t="0"/>
          <a:stretch/>
        </p:blipFill>
        <p:spPr>
          <a:xfrm>
            <a:off x="1020604" y="6155769"/>
            <a:ext cx="283488" cy="226814"/>
          </a:xfrm>
          <a:prstGeom prst="rect">
            <a:avLst/>
          </a:prstGeom>
          <a:noFill/>
          <a:ln>
            <a:noFill/>
          </a:ln>
        </p:spPr>
      </p:pic>
      <p:sp>
        <p:nvSpPr>
          <p:cNvPr id="184" name="Google Shape;184;p22"/>
          <p:cNvSpPr/>
          <p:nvPr/>
        </p:nvSpPr>
        <p:spPr>
          <a:xfrm>
            <a:off x="1530906" y="6095167"/>
            <a:ext cx="1207889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Instrument Sans"/>
              <a:buNone/>
            </a:pPr>
            <a:r>
              <a:rPr b="1" lang="en-US" sz="1750">
                <a:solidFill>
                  <a:srgbClr val="FFFFFF"/>
                </a:solidFill>
                <a:latin typeface="Instrument Sans"/>
                <a:ea typeface="Instrument Sans"/>
                <a:cs typeface="Instrument Sans"/>
                <a:sym typeface="Instrument Sans"/>
              </a:rPr>
              <a:t>CUDA Pro Tip: </a:t>
            </a:r>
            <a:r>
              <a:rPr lang="en-US" sz="1750">
                <a:solidFill>
                  <a:srgbClr val="FFFFFF"/>
                </a:solidFill>
                <a:latin typeface="Instrument Sans"/>
                <a:ea typeface="Instrument Sans"/>
                <a:cs typeface="Instrument Sans"/>
                <a:sym typeface="Instrument Sans"/>
              </a:rPr>
              <a:t>Use Nsight tools from NVIDIA to profile your CUDA code, the most significant performance issues can often be related to simple memory access patterns</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p:nvPr/>
        </p:nvSpPr>
        <p:spPr>
          <a:xfrm>
            <a:off x="793810" y="932500"/>
            <a:ext cx="143832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lang="en-US" sz="4450">
                <a:solidFill>
                  <a:srgbClr val="CBCCCE"/>
                </a:solidFill>
                <a:latin typeface="Instrument Sans"/>
                <a:ea typeface="Instrument Sans"/>
                <a:cs typeface="Instrument Sans"/>
                <a:sym typeface="Instrument Sans"/>
              </a:rPr>
              <a:t>CUDA Setup and First Steps Guide </a:t>
            </a:r>
            <a:endParaRPr sz="4450">
              <a:solidFill>
                <a:srgbClr val="CBCCCE"/>
              </a:solidFill>
              <a:latin typeface="Instrument Sans"/>
              <a:ea typeface="Instrument Sans"/>
              <a:cs typeface="Instrument Sans"/>
              <a:sym typeface="Instrument Sans"/>
            </a:endParaRPr>
          </a:p>
          <a:p>
            <a:pPr indent="0" lvl="0" marL="0" marR="0" rtl="0" algn="l">
              <a:lnSpc>
                <a:spcPct val="124719"/>
              </a:lnSpc>
              <a:spcBef>
                <a:spcPts val="0"/>
              </a:spcBef>
              <a:spcAft>
                <a:spcPts val="0"/>
              </a:spcAft>
              <a:buClr>
                <a:srgbClr val="CBCCCE"/>
              </a:buClr>
              <a:buSzPts val="4450"/>
              <a:buFont typeface="Instrument Sans"/>
              <a:buNone/>
            </a:pPr>
            <a:r>
              <a:t/>
            </a:r>
            <a:endParaRPr sz="4450">
              <a:solidFill>
                <a:srgbClr val="CBCCCE"/>
              </a:solidFill>
              <a:latin typeface="Instrument Sans"/>
              <a:ea typeface="Instrument Sans"/>
              <a:cs typeface="Instrument Sans"/>
              <a:sym typeface="Instrument Sans"/>
            </a:endParaRPr>
          </a:p>
        </p:txBody>
      </p:sp>
      <p:sp>
        <p:nvSpPr>
          <p:cNvPr id="191" name="Google Shape;191;p23"/>
          <p:cNvSpPr/>
          <p:nvPr/>
        </p:nvSpPr>
        <p:spPr>
          <a:xfrm>
            <a:off x="793790" y="22082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a:buNone/>
            </a:pPr>
            <a:r>
              <a:rPr lang="en-US" sz="2200">
                <a:solidFill>
                  <a:srgbClr val="CBCCCE"/>
                </a:solidFill>
                <a:latin typeface="Instrument Sans"/>
                <a:ea typeface="Instrument Sans"/>
                <a:cs typeface="Instrument Sans"/>
                <a:sym typeface="Instrument Sans"/>
              </a:rPr>
              <a:t>Basic Setup </a:t>
            </a:r>
            <a:endParaRPr sz="2200">
              <a:solidFill>
                <a:srgbClr val="CBCCCE"/>
              </a:solidFill>
              <a:latin typeface="Instrument Sans"/>
              <a:ea typeface="Instrument Sans"/>
              <a:cs typeface="Instrument Sans"/>
              <a:sym typeface="Instrument Sans"/>
            </a:endParaRPr>
          </a:p>
          <a:p>
            <a:pPr indent="0" lvl="0" marL="0" marR="0" rtl="0" algn="l">
              <a:lnSpc>
                <a:spcPct val="125000"/>
              </a:lnSpc>
              <a:spcBef>
                <a:spcPts val="0"/>
              </a:spcBef>
              <a:spcAft>
                <a:spcPts val="0"/>
              </a:spcAft>
              <a:buClr>
                <a:srgbClr val="CBCCCE"/>
              </a:buClr>
              <a:buSzPts val="2200"/>
              <a:buFont typeface="Instrument Sans"/>
              <a:buNone/>
            </a:pPr>
            <a:r>
              <a:t/>
            </a:r>
            <a:endParaRPr sz="2200">
              <a:solidFill>
                <a:srgbClr val="CBCCCE"/>
              </a:solidFill>
              <a:latin typeface="Instrument Sans"/>
              <a:ea typeface="Instrument Sans"/>
              <a:cs typeface="Instrument Sans"/>
              <a:sym typeface="Instrument Sans"/>
            </a:endParaRPr>
          </a:p>
        </p:txBody>
      </p:sp>
      <p:sp>
        <p:nvSpPr>
          <p:cNvPr id="192" name="Google Shape;192;p23"/>
          <p:cNvSpPr/>
          <p:nvPr/>
        </p:nvSpPr>
        <p:spPr>
          <a:xfrm>
            <a:off x="793790" y="2789396"/>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lang="en-US" sz="1750">
                <a:solidFill>
                  <a:srgbClr val="CFD0D8"/>
                </a:solidFill>
                <a:latin typeface="Instrument Sans"/>
                <a:ea typeface="Instrument Sans"/>
                <a:cs typeface="Instrument Sans"/>
                <a:sym typeface="Instrument Sans"/>
              </a:rPr>
              <a:t>Install CUDA Toolkit (nvcc compiler) </a:t>
            </a:r>
            <a:endParaRPr sz="1750">
              <a:solidFill>
                <a:srgbClr val="CFD0D8"/>
              </a:solidFill>
              <a:latin typeface="Instrument Sans"/>
              <a:ea typeface="Instrument Sans"/>
              <a:cs typeface="Instrument Sans"/>
              <a:sym typeface="Instrument Sans"/>
            </a:endParaRPr>
          </a:p>
          <a:p>
            <a:pPr indent="-342900" lvl="0" marL="342900" marR="0" rtl="0" algn="l">
              <a:lnSpc>
                <a:spcPct val="162857"/>
              </a:lnSpc>
              <a:spcBef>
                <a:spcPts val="0"/>
              </a:spcBef>
              <a:spcAft>
                <a:spcPts val="0"/>
              </a:spcAft>
              <a:buClr>
                <a:srgbClr val="CFD0D8"/>
              </a:buClr>
              <a:buSzPts val="1750"/>
              <a:buFont typeface="Instrument Sans"/>
              <a:buChar char="•"/>
            </a:pPr>
            <a:r>
              <a:t/>
            </a:r>
            <a:endParaRPr sz="1750">
              <a:solidFill>
                <a:srgbClr val="CFD0D8"/>
              </a:solidFill>
              <a:latin typeface="Instrument Sans"/>
              <a:ea typeface="Instrument Sans"/>
              <a:cs typeface="Instrument Sans"/>
              <a:sym typeface="Instrument Sans"/>
            </a:endParaRPr>
          </a:p>
        </p:txBody>
      </p:sp>
      <p:sp>
        <p:nvSpPr>
          <p:cNvPr id="193" name="Google Shape;193;p23"/>
          <p:cNvSpPr/>
          <p:nvPr/>
        </p:nvSpPr>
        <p:spPr>
          <a:xfrm>
            <a:off x="793790" y="3231594"/>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lang="en-US" sz="1750">
                <a:solidFill>
                  <a:srgbClr val="CFD0D8"/>
                </a:solidFill>
                <a:latin typeface="Instrument Sans"/>
                <a:ea typeface="Instrument Sans"/>
                <a:cs typeface="Instrument Sans"/>
                <a:sym typeface="Instrument Sans"/>
              </a:rPr>
              <a:t>Install NVIDIA Nsight for debugging/profiling </a:t>
            </a:r>
            <a:endParaRPr sz="1750">
              <a:solidFill>
                <a:srgbClr val="CFD0D8"/>
              </a:solidFill>
              <a:latin typeface="Instrument Sans"/>
              <a:ea typeface="Instrument Sans"/>
              <a:cs typeface="Instrument Sans"/>
              <a:sym typeface="Instrument Sans"/>
            </a:endParaRPr>
          </a:p>
          <a:p>
            <a:pPr indent="-342900" lvl="0" marL="342900" marR="0" rtl="0" algn="l">
              <a:lnSpc>
                <a:spcPct val="162857"/>
              </a:lnSpc>
              <a:spcBef>
                <a:spcPts val="0"/>
              </a:spcBef>
              <a:spcAft>
                <a:spcPts val="0"/>
              </a:spcAft>
              <a:buClr>
                <a:srgbClr val="CFD0D8"/>
              </a:buClr>
              <a:buSzPts val="1750"/>
              <a:buFont typeface="Instrument Sans"/>
              <a:buChar char="•"/>
            </a:pPr>
            <a:r>
              <a:t/>
            </a:r>
            <a:endParaRPr sz="1750">
              <a:solidFill>
                <a:srgbClr val="CFD0D8"/>
              </a:solidFill>
              <a:latin typeface="Instrument Sans"/>
              <a:ea typeface="Instrument Sans"/>
              <a:cs typeface="Instrument Sans"/>
              <a:sym typeface="Instrument Sans"/>
            </a:endParaRPr>
          </a:p>
        </p:txBody>
      </p:sp>
      <p:sp>
        <p:nvSpPr>
          <p:cNvPr id="194" name="Google Shape;194;p23"/>
          <p:cNvSpPr/>
          <p:nvPr/>
        </p:nvSpPr>
        <p:spPr>
          <a:xfrm>
            <a:off x="793790" y="367379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lang="en-US" sz="1750">
                <a:solidFill>
                  <a:srgbClr val="CFD0D8"/>
                </a:solidFill>
                <a:latin typeface="Instrument Sans"/>
                <a:ea typeface="Instrument Sans"/>
                <a:cs typeface="Instrument Sans"/>
                <a:sym typeface="Instrument Sans"/>
              </a:rPr>
              <a:t>cuBLAS, cuFFT libraries for optimized routines </a:t>
            </a:r>
            <a:endParaRPr sz="1750">
              <a:solidFill>
                <a:srgbClr val="CFD0D8"/>
              </a:solidFill>
              <a:latin typeface="Instrument Sans"/>
              <a:ea typeface="Instrument Sans"/>
              <a:cs typeface="Instrument Sans"/>
              <a:sym typeface="Instrument Sans"/>
            </a:endParaRPr>
          </a:p>
          <a:p>
            <a:pPr indent="-342900" lvl="0" marL="342900" marR="0" rtl="0" algn="l">
              <a:lnSpc>
                <a:spcPct val="162857"/>
              </a:lnSpc>
              <a:spcBef>
                <a:spcPts val="0"/>
              </a:spcBef>
              <a:spcAft>
                <a:spcPts val="0"/>
              </a:spcAft>
              <a:buClr>
                <a:srgbClr val="CFD0D8"/>
              </a:buClr>
              <a:buSzPts val="1750"/>
              <a:buFont typeface="Instrument Sans"/>
              <a:buChar char="•"/>
            </a:pPr>
            <a:r>
              <a:t/>
            </a:r>
            <a:endParaRPr sz="1750">
              <a:solidFill>
                <a:srgbClr val="CFD0D8"/>
              </a:solidFill>
              <a:latin typeface="Instrument Sans"/>
              <a:ea typeface="Instrument Sans"/>
              <a:cs typeface="Instrument Sans"/>
              <a:sym typeface="Instrument Sans"/>
            </a:endParaRPr>
          </a:p>
        </p:txBody>
      </p:sp>
      <p:sp>
        <p:nvSpPr>
          <p:cNvPr id="195" name="Google Shape;195;p23"/>
          <p:cNvSpPr/>
          <p:nvPr/>
        </p:nvSpPr>
        <p:spPr>
          <a:xfrm>
            <a:off x="793790" y="411599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lang="en-US" sz="1750">
                <a:solidFill>
                  <a:srgbClr val="CFD0D8"/>
                </a:solidFill>
                <a:latin typeface="Instrument Sans"/>
                <a:ea typeface="Instrument Sans"/>
                <a:cs typeface="Instrument Sans"/>
                <a:sym typeface="Instrument Sans"/>
              </a:rPr>
              <a:t>Documentation and sample programs are included </a:t>
            </a:r>
            <a:endParaRPr sz="1750">
              <a:solidFill>
                <a:srgbClr val="CFD0D8"/>
              </a:solidFill>
              <a:latin typeface="Instrument Sans"/>
              <a:ea typeface="Instrument Sans"/>
              <a:cs typeface="Instrument Sans"/>
              <a:sym typeface="Instrument Sans"/>
            </a:endParaRPr>
          </a:p>
          <a:p>
            <a:pPr indent="-342900" lvl="0" marL="342900" marR="0" rtl="0" algn="l">
              <a:lnSpc>
                <a:spcPct val="162857"/>
              </a:lnSpc>
              <a:spcBef>
                <a:spcPts val="0"/>
              </a:spcBef>
              <a:spcAft>
                <a:spcPts val="0"/>
              </a:spcAft>
              <a:buClr>
                <a:srgbClr val="CFD0D8"/>
              </a:buClr>
              <a:buSzPts val="1750"/>
              <a:buFont typeface="Instrument Sans"/>
              <a:buChar char="•"/>
            </a:pPr>
            <a:r>
              <a:t/>
            </a:r>
            <a:endParaRPr sz="1750">
              <a:solidFill>
                <a:srgbClr val="CFD0D8"/>
              </a:solidFill>
              <a:latin typeface="Instrument Sans"/>
              <a:ea typeface="Instrument Sans"/>
              <a:cs typeface="Instrument Sans"/>
              <a:sym typeface="Instrument Sans"/>
            </a:endParaRPr>
          </a:p>
        </p:txBody>
      </p:sp>
      <p:sp>
        <p:nvSpPr>
          <p:cNvPr id="196" name="Google Shape;196;p23"/>
          <p:cNvSpPr/>
          <p:nvPr/>
        </p:nvSpPr>
        <p:spPr>
          <a:xfrm>
            <a:off x="793790" y="47057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a:buNone/>
            </a:pPr>
            <a:r>
              <a:rPr b="0" i="0" lang="en-US" sz="2200" u="none" cap="none" strike="noStrike">
                <a:solidFill>
                  <a:srgbClr val="CBCCCE"/>
                </a:solidFill>
                <a:latin typeface="Instrument Sans"/>
                <a:ea typeface="Instrument Sans"/>
                <a:cs typeface="Instrument Sans"/>
                <a:sym typeface="Instrument Sans"/>
              </a:rPr>
              <a:t>Learning Resources</a:t>
            </a:r>
            <a:endParaRPr b="0" i="0" sz="2200" u="none" cap="none" strike="noStrike"/>
          </a:p>
        </p:txBody>
      </p:sp>
      <p:sp>
        <p:nvSpPr>
          <p:cNvPr id="197" name="Google Shape;197;p23"/>
          <p:cNvSpPr/>
          <p:nvPr/>
        </p:nvSpPr>
        <p:spPr>
          <a:xfrm>
            <a:off x="793790" y="528685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lang="en-US" sz="1750">
                <a:solidFill>
                  <a:srgbClr val="CFD0D8"/>
                </a:solidFill>
                <a:latin typeface="Instrument Sans"/>
                <a:ea typeface="Instrument Sans"/>
                <a:cs typeface="Instrument Sans"/>
                <a:sym typeface="Instrument Sans"/>
              </a:rPr>
              <a:t>NVIDIA Developer Zone (tutorials) </a:t>
            </a:r>
            <a:endParaRPr sz="1750">
              <a:solidFill>
                <a:srgbClr val="CFD0D8"/>
              </a:solidFill>
              <a:latin typeface="Instrument Sans"/>
              <a:ea typeface="Instrument Sans"/>
              <a:cs typeface="Instrument Sans"/>
              <a:sym typeface="Instrument Sans"/>
            </a:endParaRPr>
          </a:p>
          <a:p>
            <a:pPr indent="-342900" lvl="0" marL="342900" marR="0" rtl="0" algn="l">
              <a:lnSpc>
                <a:spcPct val="162857"/>
              </a:lnSpc>
              <a:spcBef>
                <a:spcPts val="0"/>
              </a:spcBef>
              <a:spcAft>
                <a:spcPts val="0"/>
              </a:spcAft>
              <a:buClr>
                <a:srgbClr val="CFD0D8"/>
              </a:buClr>
              <a:buSzPts val="1750"/>
              <a:buFont typeface="Instrument Sans"/>
              <a:buChar char="•"/>
            </a:pPr>
            <a:r>
              <a:t/>
            </a:r>
            <a:endParaRPr sz="1750">
              <a:solidFill>
                <a:srgbClr val="CFD0D8"/>
              </a:solidFill>
              <a:latin typeface="Instrument Sans"/>
              <a:ea typeface="Instrument Sans"/>
              <a:cs typeface="Instrument Sans"/>
              <a:sym typeface="Instrument Sans"/>
            </a:endParaRPr>
          </a:p>
        </p:txBody>
      </p:sp>
      <p:sp>
        <p:nvSpPr>
          <p:cNvPr id="198" name="Google Shape;198;p23"/>
          <p:cNvSpPr/>
          <p:nvPr/>
        </p:nvSpPr>
        <p:spPr>
          <a:xfrm>
            <a:off x="793790" y="572904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CUDA C Programming Guide</a:t>
            </a:r>
            <a:endParaRPr b="0" i="0" sz="1750" u="none" cap="none" strike="noStrike"/>
          </a:p>
        </p:txBody>
      </p:sp>
      <p:sp>
        <p:nvSpPr>
          <p:cNvPr id="199" name="Google Shape;199;p23"/>
          <p:cNvSpPr/>
          <p:nvPr/>
        </p:nvSpPr>
        <p:spPr>
          <a:xfrm>
            <a:off x="793790" y="6171248"/>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Online courses (Udacity, Coursera)</a:t>
            </a:r>
            <a:endParaRPr b="0" i="0" sz="1750" u="none" cap="none" strike="noStrike"/>
          </a:p>
        </p:txBody>
      </p:sp>
      <p:sp>
        <p:nvSpPr>
          <p:cNvPr id="200" name="Google Shape;200;p23"/>
          <p:cNvSpPr/>
          <p:nvPr/>
        </p:nvSpPr>
        <p:spPr>
          <a:xfrm>
            <a:off x="793790" y="6613446"/>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Community forums and GitHub examples</a:t>
            </a:r>
            <a:endParaRPr b="0" i="0" sz="1750" u="none" cap="none" strike="noStrike"/>
          </a:p>
        </p:txBody>
      </p:sp>
      <p:pic>
        <p:nvPicPr>
          <p:cNvPr descr="preencoded.png" id="201" name="Google Shape;201;p23"/>
          <p:cNvPicPr preferRelativeResize="0"/>
          <p:nvPr/>
        </p:nvPicPr>
        <p:blipFill rotWithShape="1">
          <a:blip r:embed="rId3">
            <a:alphaModFix/>
          </a:blip>
          <a:srcRect b="0" l="0" r="0" t="0"/>
          <a:stretch/>
        </p:blipFill>
        <p:spPr>
          <a:xfrm>
            <a:off x="7599521" y="2236589"/>
            <a:ext cx="6244709" cy="3512582"/>
          </a:xfrm>
          <a:prstGeom prst="rect">
            <a:avLst/>
          </a:prstGeom>
          <a:noFill/>
          <a:ln>
            <a:noFill/>
          </a:ln>
        </p:spPr>
      </p:pic>
      <p:sp>
        <p:nvSpPr>
          <p:cNvPr id="202" name="Google Shape;202;p23"/>
          <p:cNvSpPr/>
          <p:nvPr/>
        </p:nvSpPr>
        <p:spPr>
          <a:xfrm>
            <a:off x="7599521" y="6004322"/>
            <a:ext cx="624470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lang="en-US" sz="1750">
                <a:solidFill>
                  <a:srgbClr val="CFD0D8"/>
                </a:solidFill>
                <a:latin typeface="Instrument Sans"/>
                <a:ea typeface="Instrument Sans"/>
                <a:cs typeface="Instrument Sans"/>
                <a:sym typeface="Instrument Sans"/>
              </a:rPr>
              <a:t>Start with simple examples (vector addition) then progress to more complex apps as you grasp the fundamentals.</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p:nvPr/>
        </p:nvSpPr>
        <p:spPr>
          <a:xfrm>
            <a:off x="793790" y="1202531"/>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lang="en-US" sz="4450">
                <a:solidFill>
                  <a:srgbClr val="CBCCCE"/>
                </a:solidFill>
                <a:latin typeface="Instrument Sans"/>
                <a:ea typeface="Instrument Sans"/>
                <a:cs typeface="Instrument Sans"/>
                <a:sym typeface="Instrument Sans"/>
              </a:rPr>
              <a:t>Important Lessons</a:t>
            </a:r>
            <a:endParaRPr sz="4450">
              <a:solidFill>
                <a:srgbClr val="CBCCCE"/>
              </a:solidFill>
              <a:latin typeface="Instrument Sans"/>
              <a:ea typeface="Instrument Sans"/>
              <a:cs typeface="Instrument Sans"/>
              <a:sym typeface="Instrument Sans"/>
            </a:endParaRPr>
          </a:p>
          <a:p>
            <a:pPr indent="0" lvl="0" marL="0" marR="0" rtl="0" algn="l">
              <a:lnSpc>
                <a:spcPct val="124719"/>
              </a:lnSpc>
              <a:spcBef>
                <a:spcPts val="0"/>
              </a:spcBef>
              <a:spcAft>
                <a:spcPts val="0"/>
              </a:spcAft>
              <a:buClr>
                <a:srgbClr val="CBCCCE"/>
              </a:buClr>
              <a:buSzPts val="4450"/>
              <a:buFont typeface="Instrument Sans"/>
              <a:buNone/>
            </a:pPr>
            <a:r>
              <a:t/>
            </a:r>
            <a:endParaRPr sz="4450">
              <a:solidFill>
                <a:srgbClr val="CBCCCE"/>
              </a:solidFill>
              <a:latin typeface="Instrument Sans"/>
              <a:ea typeface="Instrument Sans"/>
              <a:cs typeface="Instrument Sans"/>
              <a:sym typeface="Instrument Sans"/>
            </a:endParaRPr>
          </a:p>
        </p:txBody>
      </p:sp>
      <p:sp>
        <p:nvSpPr>
          <p:cNvPr id="209" name="Google Shape;209;p24"/>
          <p:cNvSpPr/>
          <p:nvPr/>
        </p:nvSpPr>
        <p:spPr>
          <a:xfrm>
            <a:off x="793790" y="2364938"/>
            <a:ext cx="4196358" cy="3681055"/>
          </a:xfrm>
          <a:prstGeom prst="roundRect">
            <a:avLst>
              <a:gd fmla="val 2588"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0" name="Google Shape;210;p24"/>
          <p:cNvPicPr preferRelativeResize="0"/>
          <p:nvPr/>
        </p:nvPicPr>
        <p:blipFill rotWithShape="1">
          <a:blip r:embed="rId3">
            <a:alphaModFix/>
          </a:blip>
          <a:srcRect b="0" l="0" r="0" t="0"/>
          <a:stretch/>
        </p:blipFill>
        <p:spPr>
          <a:xfrm>
            <a:off x="1028224" y="2599373"/>
            <a:ext cx="680442" cy="680442"/>
          </a:xfrm>
          <a:prstGeom prst="rect">
            <a:avLst/>
          </a:prstGeom>
          <a:noFill/>
          <a:ln>
            <a:noFill/>
          </a:ln>
        </p:spPr>
      </p:pic>
      <p:pic>
        <p:nvPicPr>
          <p:cNvPr descr="preencoded.png" id="211" name="Google Shape;211;p24"/>
          <p:cNvPicPr preferRelativeResize="0"/>
          <p:nvPr/>
        </p:nvPicPr>
        <p:blipFill rotWithShape="1">
          <a:blip r:embed="rId4">
            <a:alphaModFix/>
          </a:blip>
          <a:srcRect b="0" l="0" r="0" t="0"/>
          <a:stretch/>
        </p:blipFill>
        <p:spPr>
          <a:xfrm>
            <a:off x="1215390" y="2786420"/>
            <a:ext cx="306110" cy="306110"/>
          </a:xfrm>
          <a:prstGeom prst="rect">
            <a:avLst/>
          </a:prstGeom>
          <a:noFill/>
          <a:ln>
            <a:noFill/>
          </a:ln>
        </p:spPr>
      </p:pic>
      <p:sp>
        <p:nvSpPr>
          <p:cNvPr id="212" name="Google Shape;212;p24"/>
          <p:cNvSpPr/>
          <p:nvPr/>
        </p:nvSpPr>
        <p:spPr>
          <a:xfrm>
            <a:off x="1028224" y="350662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1" lang="en-US" sz="2200">
                <a:solidFill>
                  <a:srgbClr val="CFD0D8"/>
                </a:solidFill>
                <a:latin typeface="Instrument Sans"/>
                <a:ea typeface="Instrument Sans"/>
                <a:cs typeface="Instrument Sans"/>
                <a:sym typeface="Instrument Sans"/>
              </a:rPr>
              <a:t>Huge Parallelism</a:t>
            </a:r>
            <a:endParaRPr b="1" sz="2200">
              <a:solidFill>
                <a:srgbClr val="CFD0D8"/>
              </a:solidFill>
              <a:latin typeface="Instrument Sans"/>
              <a:ea typeface="Instrument Sans"/>
              <a:cs typeface="Instrument Sans"/>
              <a:sym typeface="Instrument Sans"/>
            </a:endParaRPr>
          </a:p>
          <a:p>
            <a:pPr indent="0" lvl="0" marL="0" marR="0" rtl="0" algn="l">
              <a:lnSpc>
                <a:spcPct val="125000"/>
              </a:lnSpc>
              <a:spcBef>
                <a:spcPts val="0"/>
              </a:spcBef>
              <a:spcAft>
                <a:spcPts val="0"/>
              </a:spcAft>
              <a:buClr>
                <a:srgbClr val="CFD0D8"/>
              </a:buClr>
              <a:buSzPts val="2200"/>
              <a:buFont typeface="Instrument Sans"/>
              <a:buNone/>
            </a:pPr>
            <a:r>
              <a:t/>
            </a:r>
            <a:endParaRPr b="1" sz="2200">
              <a:solidFill>
                <a:srgbClr val="CFD0D8"/>
              </a:solidFill>
              <a:latin typeface="Instrument Sans"/>
              <a:ea typeface="Instrument Sans"/>
              <a:cs typeface="Instrument Sans"/>
              <a:sym typeface="Instrument Sans"/>
            </a:endParaRPr>
          </a:p>
        </p:txBody>
      </p:sp>
      <p:sp>
        <p:nvSpPr>
          <p:cNvPr id="213" name="Google Shape;213;p24"/>
          <p:cNvSpPr/>
          <p:nvPr/>
        </p:nvSpPr>
        <p:spPr>
          <a:xfrm>
            <a:off x="1028224" y="3997047"/>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lang="en-US" sz="1750">
                <a:solidFill>
                  <a:srgbClr val="CFD0D8"/>
                </a:solidFill>
                <a:latin typeface="Instrument Sans"/>
                <a:ea typeface="Instrument Sans"/>
                <a:cs typeface="Instrument Sans"/>
                <a:sym typeface="Instrument Sans"/>
              </a:rPr>
              <a:t>CUDA provides order-of-magnitude speedups for data-parallel tasks by opening up thousands of GPU cores for general-purpose processing.</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sp>
        <p:nvSpPr>
          <p:cNvPr id="214" name="Google Shape;214;p24"/>
          <p:cNvSpPr/>
          <p:nvPr/>
        </p:nvSpPr>
        <p:spPr>
          <a:xfrm>
            <a:off x="5216962" y="2364938"/>
            <a:ext cx="4196358" cy="3681055"/>
          </a:xfrm>
          <a:prstGeom prst="roundRect">
            <a:avLst>
              <a:gd fmla="val 2588"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 name="Google Shape;215;p24"/>
          <p:cNvPicPr preferRelativeResize="0"/>
          <p:nvPr/>
        </p:nvPicPr>
        <p:blipFill rotWithShape="1">
          <a:blip r:embed="rId5">
            <a:alphaModFix/>
          </a:blip>
          <a:srcRect b="0" l="0" r="0" t="0"/>
          <a:stretch/>
        </p:blipFill>
        <p:spPr>
          <a:xfrm>
            <a:off x="5451396" y="2599373"/>
            <a:ext cx="680442" cy="680442"/>
          </a:xfrm>
          <a:prstGeom prst="rect">
            <a:avLst/>
          </a:prstGeom>
          <a:noFill/>
          <a:ln>
            <a:noFill/>
          </a:ln>
        </p:spPr>
      </p:pic>
      <p:pic>
        <p:nvPicPr>
          <p:cNvPr descr="preencoded.png" id="216" name="Google Shape;216;p24"/>
          <p:cNvPicPr preferRelativeResize="0"/>
          <p:nvPr/>
        </p:nvPicPr>
        <p:blipFill rotWithShape="1">
          <a:blip r:embed="rId6">
            <a:alphaModFix/>
          </a:blip>
          <a:srcRect b="0" l="0" r="0" t="0"/>
          <a:stretch/>
        </p:blipFill>
        <p:spPr>
          <a:xfrm>
            <a:off x="5638562" y="2786420"/>
            <a:ext cx="306110" cy="306110"/>
          </a:xfrm>
          <a:prstGeom prst="rect">
            <a:avLst/>
          </a:prstGeom>
          <a:noFill/>
          <a:ln>
            <a:noFill/>
          </a:ln>
        </p:spPr>
      </p:pic>
      <p:sp>
        <p:nvSpPr>
          <p:cNvPr id="217" name="Google Shape;217;p24"/>
          <p:cNvSpPr/>
          <p:nvPr/>
        </p:nvSpPr>
        <p:spPr>
          <a:xfrm>
            <a:off x="5451400" y="3506625"/>
            <a:ext cx="4239000" cy="261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1" lang="en-US" sz="2000">
                <a:solidFill>
                  <a:srgbClr val="CFD0D8"/>
                </a:solidFill>
                <a:latin typeface="Instrument Sans"/>
                <a:ea typeface="Instrument Sans"/>
                <a:cs typeface="Instrument Sans"/>
                <a:sym typeface="Instrument Sans"/>
              </a:rPr>
              <a:t>Programming that is accessible</a:t>
            </a:r>
            <a:endParaRPr b="1" sz="2000">
              <a:solidFill>
                <a:srgbClr val="CFD0D8"/>
              </a:solidFill>
              <a:latin typeface="Instrument Sans"/>
              <a:ea typeface="Instrument Sans"/>
              <a:cs typeface="Instrument Sans"/>
              <a:sym typeface="Instrument Sans"/>
            </a:endParaRPr>
          </a:p>
          <a:p>
            <a:pPr indent="0" lvl="0" marL="0" marR="0" rtl="0" algn="l">
              <a:lnSpc>
                <a:spcPct val="125000"/>
              </a:lnSpc>
              <a:spcBef>
                <a:spcPts val="0"/>
              </a:spcBef>
              <a:spcAft>
                <a:spcPts val="0"/>
              </a:spcAft>
              <a:buClr>
                <a:srgbClr val="CFD0D8"/>
              </a:buClr>
              <a:buSzPts val="2200"/>
              <a:buFont typeface="Instrument Sans"/>
              <a:buNone/>
            </a:pPr>
            <a:r>
              <a:t/>
            </a:r>
            <a:endParaRPr b="1" sz="2000">
              <a:solidFill>
                <a:srgbClr val="CFD0D8"/>
              </a:solidFill>
              <a:latin typeface="Instrument Sans"/>
              <a:ea typeface="Instrument Sans"/>
              <a:cs typeface="Instrument Sans"/>
              <a:sym typeface="Instrument Sans"/>
            </a:endParaRPr>
          </a:p>
        </p:txBody>
      </p:sp>
      <p:sp>
        <p:nvSpPr>
          <p:cNvPr id="218" name="Google Shape;218;p24"/>
          <p:cNvSpPr/>
          <p:nvPr/>
        </p:nvSpPr>
        <p:spPr>
          <a:xfrm>
            <a:off x="5451396" y="3997047"/>
            <a:ext cx="372749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lang="en-US" sz="1750">
                <a:solidFill>
                  <a:srgbClr val="CFD0D8"/>
                </a:solidFill>
                <a:latin typeface="Instrument Sans"/>
                <a:ea typeface="Instrument Sans"/>
                <a:cs typeface="Instrument Sans"/>
                <a:sym typeface="Instrument Sans"/>
              </a:rPr>
              <a:t>Developers can learn parallel programming more easily with familiar C/C++ syntax and GPU-specific features.</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sp>
        <p:nvSpPr>
          <p:cNvPr id="219" name="Google Shape;219;p24"/>
          <p:cNvSpPr/>
          <p:nvPr/>
        </p:nvSpPr>
        <p:spPr>
          <a:xfrm>
            <a:off x="9640133" y="2364938"/>
            <a:ext cx="4196358" cy="3681055"/>
          </a:xfrm>
          <a:prstGeom prst="roundRect">
            <a:avLst>
              <a:gd fmla="val 2588"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 name="Google Shape;220;p24"/>
          <p:cNvPicPr preferRelativeResize="0"/>
          <p:nvPr/>
        </p:nvPicPr>
        <p:blipFill rotWithShape="1">
          <a:blip r:embed="rId7">
            <a:alphaModFix/>
          </a:blip>
          <a:srcRect b="0" l="0" r="0" t="0"/>
          <a:stretch/>
        </p:blipFill>
        <p:spPr>
          <a:xfrm>
            <a:off x="9874568" y="2599373"/>
            <a:ext cx="680442" cy="680442"/>
          </a:xfrm>
          <a:prstGeom prst="rect">
            <a:avLst/>
          </a:prstGeom>
          <a:noFill/>
          <a:ln>
            <a:noFill/>
          </a:ln>
        </p:spPr>
      </p:pic>
      <p:pic>
        <p:nvPicPr>
          <p:cNvPr descr="preencoded.png" id="221" name="Google Shape;221;p24"/>
          <p:cNvPicPr preferRelativeResize="0"/>
          <p:nvPr/>
        </p:nvPicPr>
        <p:blipFill rotWithShape="1">
          <a:blip r:embed="rId8">
            <a:alphaModFix/>
          </a:blip>
          <a:srcRect b="0" l="0" r="0" t="0"/>
          <a:stretch/>
        </p:blipFill>
        <p:spPr>
          <a:xfrm>
            <a:off x="10061734" y="2786420"/>
            <a:ext cx="306110" cy="306110"/>
          </a:xfrm>
          <a:prstGeom prst="rect">
            <a:avLst/>
          </a:prstGeom>
          <a:noFill/>
          <a:ln>
            <a:noFill/>
          </a:ln>
        </p:spPr>
      </p:pic>
      <p:sp>
        <p:nvSpPr>
          <p:cNvPr id="222" name="Google Shape;222;p24"/>
          <p:cNvSpPr/>
          <p:nvPr/>
        </p:nvSpPr>
        <p:spPr>
          <a:xfrm>
            <a:off x="9874577" y="3506625"/>
            <a:ext cx="3557400" cy="30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200"/>
              <a:buFont typeface="Instrument Sans"/>
              <a:buNone/>
            </a:pPr>
            <a:r>
              <a:rPr b="1" lang="en-US" sz="2200">
                <a:solidFill>
                  <a:srgbClr val="CFD0D8"/>
                </a:solidFill>
                <a:latin typeface="Instrument Sans"/>
                <a:ea typeface="Instrument Sans"/>
                <a:cs typeface="Instrument Sans"/>
                <a:sym typeface="Instrument Sans"/>
              </a:rPr>
              <a:t>Optimisation Is Important</a:t>
            </a:r>
            <a:endParaRPr b="1" sz="2200">
              <a:solidFill>
                <a:srgbClr val="CFD0D8"/>
              </a:solidFill>
              <a:latin typeface="Instrument Sans"/>
              <a:ea typeface="Instrument Sans"/>
              <a:cs typeface="Instrument Sans"/>
              <a:sym typeface="Instrument Sans"/>
            </a:endParaRPr>
          </a:p>
          <a:p>
            <a:pPr indent="0" lvl="0" marL="0" marR="0" rtl="0" algn="l">
              <a:lnSpc>
                <a:spcPct val="125000"/>
              </a:lnSpc>
              <a:spcBef>
                <a:spcPts val="0"/>
              </a:spcBef>
              <a:spcAft>
                <a:spcPts val="0"/>
              </a:spcAft>
              <a:buClr>
                <a:srgbClr val="CFD0D8"/>
              </a:buClr>
              <a:buSzPts val="2200"/>
              <a:buFont typeface="Instrument Sans"/>
              <a:buNone/>
            </a:pPr>
            <a:r>
              <a:t/>
            </a:r>
            <a:endParaRPr b="1" sz="2200">
              <a:solidFill>
                <a:srgbClr val="CFD0D8"/>
              </a:solidFill>
              <a:latin typeface="Instrument Sans"/>
              <a:ea typeface="Instrument Sans"/>
              <a:cs typeface="Instrument Sans"/>
              <a:sym typeface="Instrument Sans"/>
            </a:endParaRPr>
          </a:p>
        </p:txBody>
      </p:sp>
      <p:sp>
        <p:nvSpPr>
          <p:cNvPr id="223" name="Google Shape;223;p24"/>
          <p:cNvSpPr/>
          <p:nvPr/>
        </p:nvSpPr>
        <p:spPr>
          <a:xfrm>
            <a:off x="9874568" y="3997047"/>
            <a:ext cx="372749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lang="en-US" sz="1750">
                <a:solidFill>
                  <a:srgbClr val="CFD0D8"/>
                </a:solidFill>
                <a:latin typeface="Instrument Sans"/>
                <a:ea typeface="Instrument Sans"/>
                <a:cs typeface="Instrument Sans"/>
                <a:sym typeface="Instrument Sans"/>
              </a:rPr>
              <a:t>Achieving optimal performance requires an understanding of GPU architecture, thread organisation, and memory structures.</a:t>
            </a:r>
            <a:endParaRPr sz="1750">
              <a:solidFill>
                <a:srgbClr val="CFD0D8"/>
              </a:solidFill>
              <a:latin typeface="Instrument Sans"/>
              <a:ea typeface="Instrument Sans"/>
              <a:cs typeface="Instrument Sans"/>
              <a:sym typeface="Instrument Sans"/>
            </a:endParaRPr>
          </a:p>
          <a:p>
            <a:pPr indent="0" lvl="0" marL="0" marR="0" rtl="0" algn="l">
              <a:lnSpc>
                <a:spcPct val="162857"/>
              </a:lnSpc>
              <a:spcBef>
                <a:spcPts val="0"/>
              </a:spcBef>
              <a:spcAft>
                <a:spcPts val="0"/>
              </a:spcAft>
              <a:buClr>
                <a:srgbClr val="CFD0D8"/>
              </a:buClr>
              <a:buSzPts val="1750"/>
              <a:buFont typeface="Instrument Sans"/>
              <a:buNone/>
            </a:pPr>
            <a:r>
              <a:t/>
            </a:r>
            <a:endParaRPr sz="1750">
              <a:solidFill>
                <a:srgbClr val="CFD0D8"/>
              </a:solidFill>
              <a:latin typeface="Instrument Sans"/>
              <a:ea typeface="Instrument Sans"/>
              <a:cs typeface="Instrument Sans"/>
              <a:sym typeface="Instrument Sans"/>
            </a:endParaRPr>
          </a:p>
        </p:txBody>
      </p:sp>
      <p:sp>
        <p:nvSpPr>
          <p:cNvPr id="224" name="Google Shape;224;p24"/>
          <p:cNvSpPr/>
          <p:nvPr/>
        </p:nvSpPr>
        <p:spPr>
          <a:xfrm>
            <a:off x="793790" y="6301145"/>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lang="en-US" sz="1750">
                <a:solidFill>
                  <a:srgbClr val="CFD0D8"/>
                </a:solidFill>
                <a:latin typeface="Instrument Sans"/>
                <a:ea typeface="Instrument Sans"/>
                <a:cs typeface="Instrument Sans"/>
                <a:sym typeface="Instrument Sans"/>
              </a:rPr>
              <a:t>By making GPU acceleration feasible and affordable, CUDA has revolutionised scientific computing, artificial intelligence, and numerous other domains.  Parallel programming abilities are becoming more and more important as applications become more data-intensive.</a:t>
            </a:r>
            <a:endParaRPr b="0" i="0" sz="17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p:nvPr/>
        </p:nvSpPr>
        <p:spPr>
          <a:xfrm>
            <a:off x="3536990" y="3618607"/>
            <a:ext cx="7556400" cy="9924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CBCCCE"/>
              </a:buClr>
              <a:buSzPts val="3100"/>
              <a:buFont typeface="Instrument Sans"/>
              <a:buNone/>
            </a:pPr>
            <a:r>
              <a:rPr lang="en-US" sz="3100">
                <a:solidFill>
                  <a:srgbClr val="CBCCCE"/>
                </a:solidFill>
                <a:latin typeface="Instrument Sans"/>
                <a:ea typeface="Instrument Sans"/>
                <a:cs typeface="Instrument Sans"/>
                <a:sym typeface="Instrument Sans"/>
              </a:rPr>
              <a:t>The End</a:t>
            </a:r>
            <a:endParaRPr b="0" i="0" sz="31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